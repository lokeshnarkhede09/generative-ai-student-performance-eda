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7" r:id="rId2"/>
    <p:sldId id="257" r:id="rId3"/>
    <p:sldId id="259" r:id="rId4"/>
    <p:sldId id="258" r:id="rId5"/>
    <p:sldId id="285" r:id="rId6"/>
    <p:sldId id="260" r:id="rId7"/>
    <p:sldId id="261" r:id="rId8"/>
    <p:sldId id="263" r:id="rId9"/>
    <p:sldId id="264" r:id="rId10"/>
    <p:sldId id="284" r:id="rId11"/>
    <p:sldId id="286" r:id="rId12"/>
    <p:sldId id="267" r:id="rId13"/>
    <p:sldId id="269" r:id="rId14"/>
    <p:sldId id="270" r:id="rId15"/>
    <p:sldId id="271" r:id="rId16"/>
    <p:sldId id="273" r:id="rId17"/>
    <p:sldId id="274" r:id="rId18"/>
    <p:sldId id="275" r:id="rId19"/>
    <p:sldId id="276" r:id="rId20"/>
    <p:sldId id="277" r:id="rId21"/>
    <p:sldId id="278" r:id="rId22"/>
    <p:sldId id="281" r:id="rId23"/>
    <p:sldId id="280" r:id="rId24"/>
    <p:sldId id="283"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9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9834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lokeshnarkhed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extBox 4"/>
          <p:cNvSpPr txBox="1"/>
          <p:nvPr/>
        </p:nvSpPr>
        <p:spPr>
          <a:xfrm>
            <a:off x="241300" y="3911600"/>
            <a:ext cx="11112500" cy="2277547"/>
          </a:xfrm>
          <a:prstGeom prst="rect">
            <a:avLst/>
          </a:prstGeom>
          <a:noFill/>
        </p:spPr>
        <p:txBody>
          <a:bodyPr wrap="square" rtlCol="0">
            <a:spAutoFit/>
          </a:bodyPr>
          <a:lstStyle/>
          <a:p>
            <a:pPr algn="ctr"/>
            <a:r>
              <a:rPr lang="en-US" sz="3000" b="1" dirty="0" smtClean="0"/>
              <a:t>        EDA On Impact On Generative AI </a:t>
            </a:r>
          </a:p>
          <a:p>
            <a:pPr algn="ctr"/>
            <a:r>
              <a:rPr lang="en-US" sz="3000" b="1" dirty="0" smtClean="0"/>
              <a:t>          On Student Academic Performance</a:t>
            </a:r>
          </a:p>
          <a:p>
            <a:endParaRPr lang="en-US" sz="3200" dirty="0"/>
          </a:p>
          <a:p>
            <a:r>
              <a:rPr lang="en-US" sz="2500" dirty="0" smtClean="0"/>
              <a:t>                                                                                                                </a:t>
            </a:r>
            <a:r>
              <a:rPr lang="en-US" sz="2500" b="1" dirty="0" smtClean="0"/>
              <a:t>By </a:t>
            </a:r>
            <a:r>
              <a:rPr lang="en-US" sz="2500" b="1" dirty="0" err="1" smtClean="0"/>
              <a:t>Lokesh</a:t>
            </a:r>
            <a:r>
              <a:rPr lang="en-US" sz="2500" b="1" dirty="0" smtClean="0"/>
              <a:t> </a:t>
            </a:r>
            <a:r>
              <a:rPr lang="en-US" sz="2500" b="1" dirty="0" err="1" smtClean="0"/>
              <a:t>Narkhede</a:t>
            </a:r>
            <a:endParaRPr lang="en-US" sz="2500" b="1" dirty="0" smtClean="0"/>
          </a:p>
          <a:p>
            <a:r>
              <a:rPr lang="en-US" sz="2500" b="1" dirty="0" smtClean="0"/>
              <a:t>                                                                                                                       Batch No: 509 </a:t>
            </a:r>
            <a:endParaRPr lang="en-US" sz="2500" b="1" dirty="0"/>
          </a:p>
        </p:txBody>
      </p:sp>
    </p:spTree>
    <p:extLst>
      <p:ext uri="{BB962C8B-B14F-4D97-AF65-F5344CB8AC3E}">
        <p14:creationId xmlns:p14="http://schemas.microsoft.com/office/powerpoint/2010/main" val="17783055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ABOUT ME</a:t>
            </a:r>
            <a:endParaRPr lang="en-US" sz="1900"/>
          </a:p>
        </p:txBody>
      </p:sp>
      <p:sp>
        <p:nvSpPr>
          <p:cNvPr id="4" name="Text 2"/>
          <p:cNvSpPr/>
          <p:nvPr/>
        </p:nvSpPr>
        <p:spPr>
          <a:xfrm>
            <a:off x="457200" y="777240"/>
            <a:ext cx="11274552" cy="640080"/>
          </a:xfrm>
          <a:prstGeom prst="rect">
            <a:avLst/>
          </a:prstGeom>
          <a:noFill/>
          <a:ln/>
        </p:spPr>
        <p:txBody>
          <a:bodyPr wrap="square" lIns="0" tIns="0" rIns="0" bIns="0" rtlCol="0" anchor="ctr"/>
          <a:lstStyle/>
          <a:p>
            <a:pPr marL="0" indent="0">
              <a:buNone/>
            </a:pPr>
            <a:r>
              <a:rPr lang="en-US" sz="3000" b="1">
                <a:solidFill>
                  <a:srgbClr val="1B1B2F"/>
                </a:solidFill>
                <a:latin typeface="Cambria" pitchFamily="34" charset="0"/>
                <a:ea typeface="Cambria" pitchFamily="34" charset="-122"/>
                <a:cs typeface="Cambria" pitchFamily="34" charset="-120"/>
              </a:rPr>
              <a:t>About Me</a:t>
            </a:r>
            <a:endParaRPr lang="en-US" sz="3000"/>
          </a:p>
        </p:txBody>
      </p:sp>
      <p:sp>
        <p:nvSpPr>
          <p:cNvPr id="5" name="Shape 3"/>
          <p:cNvSpPr/>
          <p:nvPr/>
        </p:nvSpPr>
        <p:spPr>
          <a:xfrm>
            <a:off x="548640" y="1874520"/>
            <a:ext cx="411480" cy="411480"/>
          </a:xfrm>
          <a:prstGeom prst="ellipse">
            <a:avLst/>
          </a:prstGeom>
          <a:solidFill>
            <a:srgbClr val="2E1F66"/>
          </a:solidFill>
          <a:ln/>
        </p:spPr>
      </p:sp>
      <p:sp>
        <p:nvSpPr>
          <p:cNvPr id="6" name="Text 4"/>
          <p:cNvSpPr/>
          <p:nvPr/>
        </p:nvSpPr>
        <p:spPr>
          <a:xfrm>
            <a:off x="548640" y="1874520"/>
            <a:ext cx="411480" cy="41148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1</a:t>
            </a:r>
            <a:endParaRPr lang="en-US" sz="1600"/>
          </a:p>
        </p:txBody>
      </p:sp>
      <p:sp>
        <p:nvSpPr>
          <p:cNvPr id="7" name="Text 5"/>
          <p:cNvSpPr/>
          <p:nvPr/>
        </p:nvSpPr>
        <p:spPr>
          <a:xfrm>
            <a:off x="1143000" y="1828800"/>
            <a:ext cx="9875520" cy="320040"/>
          </a:xfrm>
          <a:prstGeom prst="rect">
            <a:avLst/>
          </a:prstGeom>
          <a:noFill/>
          <a:ln/>
        </p:spPr>
        <p:txBody>
          <a:bodyPr wrap="square" lIns="0" tIns="0" rIns="0" bIns="0" rtlCol="0" anchor="ctr"/>
          <a:lstStyle/>
          <a:p>
            <a:pPr marL="0" indent="0">
              <a:buNone/>
            </a:pPr>
            <a:r>
              <a:rPr lang="en-US" sz="2000" b="1">
                <a:solidFill>
                  <a:srgbClr val="1B1B2F"/>
                </a:solidFill>
                <a:latin typeface="Calibri" pitchFamily="34" charset="0"/>
                <a:ea typeface="Calibri" pitchFamily="34" charset="-122"/>
                <a:cs typeface="Calibri" pitchFamily="34" charset="-120"/>
              </a:rPr>
              <a:t>Educational Background</a:t>
            </a:r>
            <a:endParaRPr lang="en-US" sz="2000"/>
          </a:p>
        </p:txBody>
      </p:sp>
      <p:sp>
        <p:nvSpPr>
          <p:cNvPr id="8" name="Text 6"/>
          <p:cNvSpPr/>
          <p:nvPr/>
        </p:nvSpPr>
        <p:spPr>
          <a:xfrm>
            <a:off x="1143000" y="2176272"/>
            <a:ext cx="9875520" cy="457200"/>
          </a:xfrm>
          <a:prstGeom prst="rect">
            <a:avLst/>
          </a:prstGeom>
          <a:noFill/>
          <a:ln/>
        </p:spPr>
        <p:txBody>
          <a:bodyPr wrap="square" lIns="0" tIns="0" rIns="0" bIns="0" rtlCol="0" anchor="ctr"/>
          <a:lstStyle/>
          <a:p>
            <a:pPr marL="0" indent="0">
              <a:buNone/>
            </a:pPr>
            <a:r>
              <a:rPr lang="en-US" sz="1900" smtClean="0">
                <a:latin typeface="Calibri" pitchFamily="34" charset="0"/>
                <a:cs typeface="Calibri" pitchFamily="34" charset="-120"/>
              </a:rPr>
              <a:t>Pursuing B-tech Degree in 4</a:t>
            </a:r>
            <a:r>
              <a:rPr lang="en-US" sz="1900" baseline="30000" smtClean="0">
                <a:latin typeface="Calibri" pitchFamily="34" charset="0"/>
                <a:cs typeface="Calibri" pitchFamily="34" charset="-120"/>
              </a:rPr>
              <a:t>th</a:t>
            </a:r>
            <a:r>
              <a:rPr lang="en-US" sz="1900" smtClean="0">
                <a:latin typeface="Calibri" pitchFamily="34" charset="0"/>
                <a:cs typeface="Calibri" pitchFamily="34" charset="-120"/>
              </a:rPr>
              <a:t> year of Electronics and Telecommunication Engineering</a:t>
            </a:r>
            <a:endParaRPr lang="en-US" sz="1900"/>
          </a:p>
        </p:txBody>
      </p:sp>
      <p:sp>
        <p:nvSpPr>
          <p:cNvPr id="9" name="Shape 7"/>
          <p:cNvSpPr/>
          <p:nvPr/>
        </p:nvSpPr>
        <p:spPr>
          <a:xfrm>
            <a:off x="548640" y="2926080"/>
            <a:ext cx="411480" cy="411480"/>
          </a:xfrm>
          <a:prstGeom prst="ellipse">
            <a:avLst/>
          </a:prstGeom>
          <a:solidFill>
            <a:srgbClr val="6C4AB6"/>
          </a:solidFill>
          <a:ln/>
        </p:spPr>
      </p:sp>
      <p:sp>
        <p:nvSpPr>
          <p:cNvPr id="10" name="Text 8"/>
          <p:cNvSpPr/>
          <p:nvPr/>
        </p:nvSpPr>
        <p:spPr>
          <a:xfrm>
            <a:off x="548640" y="2926080"/>
            <a:ext cx="411480" cy="41148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2</a:t>
            </a:r>
            <a:endParaRPr lang="en-US" sz="1600"/>
          </a:p>
        </p:txBody>
      </p:sp>
      <p:sp>
        <p:nvSpPr>
          <p:cNvPr id="11" name="Text 9"/>
          <p:cNvSpPr/>
          <p:nvPr/>
        </p:nvSpPr>
        <p:spPr>
          <a:xfrm>
            <a:off x="1143000" y="2880360"/>
            <a:ext cx="9875520" cy="320040"/>
          </a:xfrm>
          <a:prstGeom prst="rect">
            <a:avLst/>
          </a:prstGeom>
          <a:noFill/>
          <a:ln/>
        </p:spPr>
        <p:txBody>
          <a:bodyPr wrap="square" lIns="0" tIns="0" rIns="0" bIns="0" rtlCol="0" anchor="ctr"/>
          <a:lstStyle/>
          <a:p>
            <a:pPr marL="0" indent="0">
              <a:buNone/>
            </a:pPr>
            <a:r>
              <a:rPr lang="en-US" sz="2000" b="1">
                <a:solidFill>
                  <a:srgbClr val="1B1B2F"/>
                </a:solidFill>
                <a:latin typeface="Calibri" pitchFamily="34" charset="0"/>
                <a:ea typeface="Calibri" pitchFamily="34" charset="-122"/>
                <a:cs typeface="Calibri" pitchFamily="34" charset="-120"/>
              </a:rPr>
              <a:t>Why Data Science?</a:t>
            </a:r>
            <a:endParaRPr lang="en-US" sz="2000"/>
          </a:p>
        </p:txBody>
      </p:sp>
      <p:sp>
        <p:nvSpPr>
          <p:cNvPr id="12" name="Text 10"/>
          <p:cNvSpPr/>
          <p:nvPr/>
        </p:nvSpPr>
        <p:spPr>
          <a:xfrm>
            <a:off x="1143000" y="3440430"/>
            <a:ext cx="9875520" cy="457200"/>
          </a:xfrm>
          <a:prstGeom prst="rect">
            <a:avLst/>
          </a:prstGeom>
          <a:noFill/>
          <a:ln/>
        </p:spPr>
        <p:txBody>
          <a:bodyPr wrap="square" lIns="0" tIns="0" rIns="0" bIns="0" rtlCol="0" anchor="ctr"/>
          <a:lstStyle/>
          <a:p>
            <a:r>
              <a:rPr lang="en-US" sz="1900"/>
              <a:t>I chose Data Science because I enjoy working with data and finding meaningful insights from it. It combines programming, problem-solving, and analytical thinking, which I find interesting. It also provides great opportunities to work in AI and solve real-world problems.</a:t>
            </a:r>
          </a:p>
        </p:txBody>
      </p:sp>
      <p:sp>
        <p:nvSpPr>
          <p:cNvPr id="13" name="Shape 11"/>
          <p:cNvSpPr/>
          <p:nvPr/>
        </p:nvSpPr>
        <p:spPr>
          <a:xfrm>
            <a:off x="557333" y="4446463"/>
            <a:ext cx="411480" cy="411480"/>
          </a:xfrm>
          <a:prstGeom prst="ellipse">
            <a:avLst/>
          </a:prstGeom>
          <a:solidFill>
            <a:srgbClr val="C97F1E"/>
          </a:solidFill>
          <a:ln/>
        </p:spPr>
      </p:sp>
      <p:sp>
        <p:nvSpPr>
          <p:cNvPr id="14" name="Text 12"/>
          <p:cNvSpPr/>
          <p:nvPr/>
        </p:nvSpPr>
        <p:spPr>
          <a:xfrm>
            <a:off x="548640" y="4434840"/>
            <a:ext cx="411480" cy="41148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3</a:t>
            </a:r>
            <a:endParaRPr lang="en-US" sz="1600"/>
          </a:p>
        </p:txBody>
      </p:sp>
      <p:sp>
        <p:nvSpPr>
          <p:cNvPr id="15" name="Text 13"/>
          <p:cNvSpPr/>
          <p:nvPr/>
        </p:nvSpPr>
        <p:spPr>
          <a:xfrm>
            <a:off x="1143000" y="4514657"/>
            <a:ext cx="9875520" cy="320040"/>
          </a:xfrm>
          <a:prstGeom prst="rect">
            <a:avLst/>
          </a:prstGeom>
          <a:noFill/>
          <a:ln/>
        </p:spPr>
        <p:txBody>
          <a:bodyPr wrap="square" lIns="0" tIns="0" rIns="0" bIns="0" rtlCol="0" anchor="ctr"/>
          <a:lstStyle/>
          <a:p>
            <a:r>
              <a:rPr lang="en-US" sz="2000" b="1">
                <a:solidFill>
                  <a:srgbClr val="1B1B2F"/>
                </a:solidFill>
                <a:latin typeface="Calibri" pitchFamily="34" charset="0"/>
                <a:ea typeface="Calibri" pitchFamily="34" charset="-122"/>
                <a:cs typeface="Calibri" pitchFamily="34" charset="-120"/>
              </a:rPr>
              <a:t>Online Profiles</a:t>
            </a:r>
            <a:endParaRPr lang="en-US" sz="2000"/>
          </a:p>
        </p:txBody>
      </p:sp>
      <p:sp>
        <p:nvSpPr>
          <p:cNvPr id="16" name="Text 14"/>
          <p:cNvSpPr/>
          <p:nvPr/>
        </p:nvSpPr>
        <p:spPr>
          <a:xfrm>
            <a:off x="1143000" y="4857943"/>
            <a:ext cx="9875520" cy="457200"/>
          </a:xfrm>
          <a:prstGeom prst="rect">
            <a:avLst/>
          </a:prstGeom>
          <a:noFill/>
          <a:ln/>
        </p:spPr>
        <p:txBody>
          <a:bodyPr wrap="square" lIns="0" tIns="0" rIns="0" bIns="0" rtlCol="0" anchor="ctr"/>
          <a:lstStyle/>
          <a:p>
            <a:r>
              <a:rPr lang="en-US" sz="1900" smtClean="0">
                <a:latin typeface="Calibri" pitchFamily="34" charset="0"/>
                <a:ea typeface="Calibri" pitchFamily="34" charset="-122"/>
                <a:cs typeface="Calibri" pitchFamily="34" charset="-120"/>
              </a:rPr>
              <a:t>LinkedIn: </a:t>
            </a:r>
            <a:r>
              <a:rPr lang="en-US" sz="1900">
                <a:hlinkClick r:id="rId3"/>
              </a:rPr>
              <a:t>www.linkedin.com/in/lokeshnarkhede</a:t>
            </a:r>
            <a:endParaRPr lang="en-US" sz="1900"/>
          </a:p>
        </p:txBody>
      </p:sp>
      <p:sp>
        <p:nvSpPr>
          <p:cNvPr id="18" name="Text 16"/>
          <p:cNvSpPr/>
          <p:nvPr/>
        </p:nvSpPr>
        <p:spPr>
          <a:xfrm>
            <a:off x="548640" y="5212080"/>
            <a:ext cx="411480" cy="411480"/>
          </a:xfrm>
          <a:prstGeom prst="rect">
            <a:avLst/>
          </a:prstGeom>
          <a:noFill/>
          <a:ln/>
        </p:spPr>
        <p:txBody>
          <a:bodyPr wrap="square" lIns="0" tIns="0" rIns="0" bIns="0" rtlCol="0" anchor="ctr"/>
          <a:lstStyle/>
          <a:p>
            <a:pPr marL="0" indent="0" algn="ctr">
              <a:buNone/>
            </a:pPr>
            <a:r>
              <a:rPr lang="en-US" sz="1600" b="1" smtClean="0">
                <a:solidFill>
                  <a:srgbClr val="FFFFFF"/>
                </a:solidFill>
                <a:latin typeface="Calibri" pitchFamily="34" charset="0"/>
                <a:ea typeface="Calibri" pitchFamily="34" charset="-122"/>
                <a:cs typeface="Calibri" pitchFamily="34" charset="-120"/>
              </a:rPr>
              <a:t>4</a:t>
            </a:r>
            <a:endParaRPr lang="en-US" sz="1600"/>
          </a:p>
        </p:txBody>
      </p:sp>
      <p:sp>
        <p:nvSpPr>
          <p:cNvPr id="21" name="Text 19"/>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22" name="Text 20"/>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a:solidFill>
                  <a:srgbClr val="5B5470"/>
                </a:solidFill>
                <a:latin typeface="Calibri" pitchFamily="34" charset="0"/>
                <a:ea typeface="Calibri" pitchFamily="34" charset="-122"/>
                <a:cs typeface="Calibri" pitchFamily="34" charset="-120"/>
              </a:rPr>
              <a:t>2</a:t>
            </a:r>
            <a:endParaRPr lang="en-US" sz="9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INTRODUCTION</a:t>
            </a:r>
            <a:endParaRPr lang="en-US" sz="1900"/>
          </a:p>
        </p:txBody>
      </p:sp>
      <p:sp>
        <p:nvSpPr>
          <p:cNvPr id="4" name="Text 2"/>
          <p:cNvSpPr/>
          <p:nvPr/>
        </p:nvSpPr>
        <p:spPr>
          <a:xfrm>
            <a:off x="457200" y="777240"/>
            <a:ext cx="11274552" cy="640080"/>
          </a:xfrm>
          <a:prstGeom prst="rect">
            <a:avLst/>
          </a:prstGeom>
          <a:noFill/>
          <a:ln/>
        </p:spPr>
        <p:txBody>
          <a:bodyPr wrap="square" lIns="0" tIns="0" rIns="0" bIns="0" rtlCol="0" anchor="ctr"/>
          <a:lstStyle/>
          <a:p>
            <a:pPr marL="0" indent="0">
              <a:buNone/>
            </a:pPr>
            <a:r>
              <a:rPr lang="en-US" sz="3000" b="1">
                <a:solidFill>
                  <a:srgbClr val="1B1B2F"/>
                </a:solidFill>
                <a:latin typeface="Cambria" pitchFamily="34" charset="0"/>
                <a:ea typeface="Cambria" pitchFamily="34" charset="-122"/>
                <a:cs typeface="Cambria" pitchFamily="34" charset="-120"/>
              </a:rPr>
              <a:t>Problem Statement &amp; Objective</a:t>
            </a:r>
            <a:endParaRPr lang="en-US" sz="3000"/>
          </a:p>
        </p:txBody>
      </p:sp>
      <p:sp>
        <p:nvSpPr>
          <p:cNvPr id="5" name="Shape 3"/>
          <p:cNvSpPr/>
          <p:nvPr/>
        </p:nvSpPr>
        <p:spPr>
          <a:xfrm>
            <a:off x="548640" y="1737360"/>
            <a:ext cx="10488554" cy="4114800"/>
          </a:xfrm>
          <a:prstGeom prst="roundRect">
            <a:avLst>
              <a:gd name="adj" fmla="val 1778"/>
            </a:avLst>
          </a:prstGeom>
          <a:solidFill>
            <a:srgbClr val="F7F5FC"/>
          </a:solidFill>
          <a:ln/>
          <a:effectLst>
            <a:outerShdw blurRad="101600" dist="38100" dir="2700000" algn="bl" rotWithShape="0">
              <a:srgbClr val="1B1B2F">
                <a:alpha val="12000"/>
              </a:srgbClr>
            </a:outerShdw>
          </a:effectLst>
        </p:spPr>
      </p:sp>
      <p:sp>
        <p:nvSpPr>
          <p:cNvPr id="6" name="Text 4"/>
          <p:cNvSpPr/>
          <p:nvPr/>
        </p:nvSpPr>
        <p:spPr>
          <a:xfrm>
            <a:off x="868680" y="1965960"/>
            <a:ext cx="6035040" cy="274320"/>
          </a:xfrm>
          <a:prstGeom prst="rect">
            <a:avLst/>
          </a:prstGeom>
          <a:noFill/>
          <a:ln/>
        </p:spPr>
        <p:txBody>
          <a:bodyPr wrap="square" lIns="0" tIns="0" rIns="0" bIns="0" rtlCol="0" anchor="ctr"/>
          <a:lstStyle/>
          <a:p>
            <a:pPr marL="0" indent="0">
              <a:buNone/>
            </a:pPr>
            <a:r>
              <a:rPr lang="en-US" sz="2000" b="1" kern="0" spc="100">
                <a:solidFill>
                  <a:srgbClr val="6C4AB6"/>
                </a:solidFill>
                <a:latin typeface="Calibri" pitchFamily="34" charset="0"/>
                <a:ea typeface="Calibri" pitchFamily="34" charset="-122"/>
                <a:cs typeface="Calibri" pitchFamily="34" charset="-120"/>
              </a:rPr>
              <a:t>THE PROBLEM</a:t>
            </a:r>
            <a:endParaRPr lang="en-US" sz="2000"/>
          </a:p>
        </p:txBody>
      </p:sp>
      <p:sp>
        <p:nvSpPr>
          <p:cNvPr id="7" name="Text 5"/>
          <p:cNvSpPr/>
          <p:nvPr/>
        </p:nvSpPr>
        <p:spPr>
          <a:xfrm>
            <a:off x="696103" y="2401009"/>
            <a:ext cx="10193628" cy="3281794"/>
          </a:xfrm>
          <a:prstGeom prst="rect">
            <a:avLst/>
          </a:prstGeom>
          <a:noFill/>
          <a:ln/>
        </p:spPr>
        <p:txBody>
          <a:bodyPr wrap="square" lIns="0" tIns="0" rIns="0" bIns="0" rtlCol="0" anchor="t"/>
          <a:lstStyle/>
          <a:p>
            <a:pPr marL="0" indent="0">
              <a:buNone/>
            </a:pPr>
            <a:r>
              <a:rPr lang="en-US" sz="1900" dirty="0">
                <a:solidFill>
                  <a:srgbClr val="1B1B2F"/>
                </a:solidFill>
                <a:latin typeface="Calibri" pitchFamily="34" charset="0"/>
                <a:ea typeface="Calibri" pitchFamily="34" charset="-122"/>
                <a:cs typeface="Calibri" pitchFamily="34" charset="-120"/>
              </a:rPr>
              <a:t>The increasing use of Generative AI tools is changing how students learn and complete academic tasks. However, its impact on academic performance, study habits, and learning outcomes is not clearly understood</a:t>
            </a:r>
            <a:r>
              <a:rPr lang="en-US" sz="1900" dirty="0" smtClean="0">
                <a:solidFill>
                  <a:srgbClr val="1B1B2F"/>
                </a:solidFill>
                <a:latin typeface="Calibri" pitchFamily="34" charset="0"/>
                <a:ea typeface="Calibri" pitchFamily="34" charset="-122"/>
                <a:cs typeface="Calibri" pitchFamily="34" charset="-120"/>
              </a:rPr>
              <a:t>.</a:t>
            </a:r>
          </a:p>
          <a:p>
            <a:pPr marL="0" indent="0">
              <a:buNone/>
            </a:pPr>
            <a:endParaRPr lang="en-US" sz="1900" dirty="0">
              <a:solidFill>
                <a:srgbClr val="1B1B2F"/>
              </a:solidFill>
              <a:latin typeface="Calibri" pitchFamily="34" charset="0"/>
              <a:ea typeface="Calibri" pitchFamily="34" charset="-122"/>
              <a:cs typeface="Calibri" pitchFamily="34" charset="-120"/>
            </a:endParaRPr>
          </a:p>
          <a:p>
            <a:r>
              <a:rPr lang="en-US" sz="2000" dirty="0"/>
              <a:t>Generative AI tools are increasingly being used by students for learning, completing assignments, conducting research, and improving productivity. While these tools offer several benefits, their overall impact on students' academic performance, study habits, and learning outcomes remains uncertain. This project aims to analyze student-related data to understand how the use of Generative AI influences education and whether it contributes positively or negatively to the learning process.</a:t>
            </a:r>
          </a:p>
          <a:p>
            <a:pPr marL="0" indent="0">
              <a:buNone/>
            </a:pPr>
            <a:endParaRPr lang="en-US" sz="1900" dirty="0" smtClean="0">
              <a:solidFill>
                <a:srgbClr val="1B1B2F"/>
              </a:solidFill>
              <a:latin typeface="Calibri" pitchFamily="34" charset="0"/>
              <a:ea typeface="Calibri" pitchFamily="34" charset="-122"/>
              <a:cs typeface="Calibri" pitchFamily="34" charset="-120"/>
            </a:endParaRPr>
          </a:p>
          <a:p>
            <a:pPr marL="0" indent="0">
              <a:buNone/>
            </a:pPr>
            <a:endParaRPr lang="en-US" sz="1900" dirty="0">
              <a:solidFill>
                <a:srgbClr val="1B1B2F"/>
              </a:solidFill>
              <a:latin typeface="Calibri" pitchFamily="34" charset="0"/>
              <a:ea typeface="Calibri" pitchFamily="34" charset="-122"/>
              <a:cs typeface="Calibri" pitchFamily="34" charset="-120"/>
            </a:endParaRPr>
          </a:p>
          <a:p>
            <a:pPr marL="0" indent="0">
              <a:buNone/>
            </a:pPr>
            <a:endParaRPr lang="en-US" sz="1900" dirty="0" smtClean="0">
              <a:solidFill>
                <a:srgbClr val="1B1B2F"/>
              </a:solidFill>
              <a:latin typeface="Calibri" pitchFamily="34" charset="0"/>
              <a:ea typeface="Calibri" pitchFamily="34" charset="-122"/>
              <a:cs typeface="Calibri" pitchFamily="34" charset="-120"/>
            </a:endParaRPr>
          </a:p>
          <a:p>
            <a:pPr marL="0" indent="0">
              <a:buNone/>
            </a:pPr>
            <a:endParaRPr lang="en-US" sz="1900" dirty="0">
              <a:solidFill>
                <a:srgbClr val="1B1B2F"/>
              </a:solidFill>
              <a:latin typeface="Calibri" pitchFamily="34" charset="0"/>
              <a:ea typeface="Calibri" pitchFamily="34" charset="-122"/>
              <a:cs typeface="Calibri" pitchFamily="34" charset="-120"/>
            </a:endParaRPr>
          </a:p>
          <a:p>
            <a:pPr marL="0" indent="0">
              <a:buNone/>
            </a:pPr>
            <a:endParaRPr lang="en-US" sz="1900" dirty="0" smtClean="0">
              <a:solidFill>
                <a:srgbClr val="1B1B2F"/>
              </a:solidFill>
              <a:latin typeface="Calibri" pitchFamily="34" charset="0"/>
              <a:ea typeface="Calibri" pitchFamily="34" charset="-122"/>
              <a:cs typeface="Calibri" pitchFamily="34" charset="-120"/>
            </a:endParaRPr>
          </a:p>
          <a:p>
            <a:pPr marL="0" indent="0">
              <a:buNone/>
            </a:pPr>
            <a:endParaRPr lang="en-US" sz="1900" dirty="0">
              <a:solidFill>
                <a:srgbClr val="1B1B2F"/>
              </a:solidFill>
              <a:latin typeface="Calibri" pitchFamily="34" charset="0"/>
              <a:cs typeface="Calibri" pitchFamily="34" charset="-120"/>
            </a:endParaRPr>
          </a:p>
          <a:p>
            <a:pPr marL="0" indent="0">
              <a:buNone/>
            </a:pPr>
            <a:endParaRPr lang="en-US" sz="1900" dirty="0"/>
          </a:p>
        </p:txBody>
      </p:sp>
      <p:sp>
        <p:nvSpPr>
          <p:cNvPr id="13" name="Text 11"/>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4" name="Text 12"/>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a:solidFill>
                  <a:srgbClr val="5B5470"/>
                </a:solidFill>
                <a:latin typeface="Calibri" pitchFamily="34" charset="0"/>
                <a:ea typeface="Calibri" pitchFamily="34" charset="-122"/>
                <a:cs typeface="Calibri" pitchFamily="34" charset="-120"/>
              </a:rPr>
              <a:t>4</a:t>
            </a:r>
            <a:endParaRPr lang="en-US" sz="9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AGENDA</a:t>
            </a:r>
            <a:endParaRPr lang="en-US" sz="1900"/>
          </a:p>
        </p:txBody>
      </p:sp>
      <p:sp>
        <p:nvSpPr>
          <p:cNvPr id="4" name="Text 2"/>
          <p:cNvSpPr/>
          <p:nvPr/>
        </p:nvSpPr>
        <p:spPr>
          <a:xfrm>
            <a:off x="457200" y="777240"/>
            <a:ext cx="11274552" cy="640080"/>
          </a:xfrm>
          <a:prstGeom prst="rect">
            <a:avLst/>
          </a:prstGeom>
          <a:noFill/>
          <a:ln/>
        </p:spPr>
        <p:txBody>
          <a:bodyPr wrap="square" lIns="0" tIns="0" rIns="0" bIns="0" rtlCol="0" anchor="ctr"/>
          <a:lstStyle/>
          <a:p>
            <a:pPr marL="0" indent="0">
              <a:buNone/>
            </a:pPr>
            <a:r>
              <a:rPr lang="en-US" sz="3000" b="1">
                <a:solidFill>
                  <a:srgbClr val="1B1B2F"/>
                </a:solidFill>
                <a:latin typeface="Cambria" pitchFamily="34" charset="0"/>
                <a:ea typeface="Cambria" pitchFamily="34" charset="-122"/>
                <a:cs typeface="Cambria" pitchFamily="34" charset="-120"/>
              </a:rPr>
              <a:t>Agenda</a:t>
            </a:r>
            <a:endParaRPr lang="en-US" sz="3000"/>
          </a:p>
        </p:txBody>
      </p:sp>
      <p:sp>
        <p:nvSpPr>
          <p:cNvPr id="5" name="Shape 3"/>
          <p:cNvSpPr/>
          <p:nvPr/>
        </p:nvSpPr>
        <p:spPr>
          <a:xfrm>
            <a:off x="548640" y="1874520"/>
            <a:ext cx="365760" cy="365760"/>
          </a:xfrm>
          <a:prstGeom prst="ellipse">
            <a:avLst/>
          </a:prstGeom>
          <a:solidFill>
            <a:srgbClr val="EDE7F9"/>
          </a:solidFill>
          <a:ln w="12700">
            <a:solidFill>
              <a:srgbClr val="6C4AB6"/>
            </a:solidFill>
            <a:prstDash val="solid"/>
          </a:ln>
        </p:spPr>
      </p:sp>
      <p:sp>
        <p:nvSpPr>
          <p:cNvPr id="6" name="Text 4"/>
          <p:cNvSpPr/>
          <p:nvPr/>
        </p:nvSpPr>
        <p:spPr>
          <a:xfrm>
            <a:off x="548640" y="1874520"/>
            <a:ext cx="365760" cy="365760"/>
          </a:xfrm>
          <a:prstGeom prst="rect">
            <a:avLst/>
          </a:prstGeom>
          <a:noFill/>
          <a:ln/>
        </p:spPr>
        <p:txBody>
          <a:bodyPr wrap="square" lIns="0" tIns="0" rIns="0" bIns="0" rtlCol="0" anchor="ctr"/>
          <a:lstStyle/>
          <a:p>
            <a:pPr marL="0" indent="0" algn="ctr">
              <a:buNone/>
            </a:pPr>
            <a:r>
              <a:rPr lang="en-US" sz="1300" b="1">
                <a:solidFill>
                  <a:srgbClr val="6C4AB6"/>
                </a:solidFill>
                <a:latin typeface="Calibri" pitchFamily="34" charset="0"/>
                <a:ea typeface="Calibri" pitchFamily="34" charset="-122"/>
                <a:cs typeface="Calibri" pitchFamily="34" charset="-120"/>
              </a:rPr>
              <a:t>1</a:t>
            </a:r>
            <a:endParaRPr lang="en-US" sz="1300"/>
          </a:p>
        </p:txBody>
      </p:sp>
      <p:sp>
        <p:nvSpPr>
          <p:cNvPr id="7" name="Text 5"/>
          <p:cNvSpPr/>
          <p:nvPr/>
        </p:nvSpPr>
        <p:spPr>
          <a:xfrm>
            <a:off x="1051560" y="1847088"/>
            <a:ext cx="4892040" cy="411480"/>
          </a:xfrm>
          <a:prstGeom prst="rect">
            <a:avLst/>
          </a:prstGeom>
          <a:noFill/>
          <a:ln/>
        </p:spPr>
        <p:txBody>
          <a:bodyPr wrap="square" lIns="0" tIns="0" rIns="0" bIns="0" rtlCol="0" anchor="ctr"/>
          <a:lstStyle/>
          <a:p>
            <a:pPr marL="0" indent="0">
              <a:buNone/>
            </a:pPr>
            <a:r>
              <a:rPr lang="en-US" sz="1900" dirty="0">
                <a:solidFill>
                  <a:srgbClr val="1B1B2F"/>
                </a:solidFill>
                <a:latin typeface="Calibri" pitchFamily="34" charset="0"/>
                <a:ea typeface="Calibri" pitchFamily="34" charset="-122"/>
                <a:cs typeface="Calibri" pitchFamily="34" charset="-120"/>
              </a:rPr>
              <a:t>Problem Statement </a:t>
            </a:r>
            <a:endParaRPr lang="en-US" sz="1900" dirty="0" smtClean="0">
              <a:solidFill>
                <a:srgbClr val="1B1B2F"/>
              </a:solidFill>
              <a:latin typeface="Calibri" pitchFamily="34" charset="0"/>
              <a:ea typeface="Calibri" pitchFamily="34" charset="-122"/>
              <a:cs typeface="Calibri" pitchFamily="34" charset="-120"/>
            </a:endParaRPr>
          </a:p>
        </p:txBody>
      </p:sp>
      <p:sp>
        <p:nvSpPr>
          <p:cNvPr id="8" name="Shape 6"/>
          <p:cNvSpPr/>
          <p:nvPr/>
        </p:nvSpPr>
        <p:spPr>
          <a:xfrm>
            <a:off x="548640" y="2950195"/>
            <a:ext cx="365760" cy="365760"/>
          </a:xfrm>
          <a:prstGeom prst="ellipse">
            <a:avLst/>
          </a:prstGeom>
          <a:solidFill>
            <a:srgbClr val="EDE7F9"/>
          </a:solidFill>
          <a:ln w="12700">
            <a:solidFill>
              <a:srgbClr val="6C4AB6"/>
            </a:solidFill>
            <a:prstDash val="solid"/>
          </a:ln>
        </p:spPr>
      </p:sp>
      <p:sp>
        <p:nvSpPr>
          <p:cNvPr id="9" name="Text 7"/>
          <p:cNvSpPr/>
          <p:nvPr/>
        </p:nvSpPr>
        <p:spPr>
          <a:xfrm>
            <a:off x="557003" y="2934040"/>
            <a:ext cx="365760" cy="365760"/>
          </a:xfrm>
          <a:prstGeom prst="rect">
            <a:avLst/>
          </a:prstGeom>
          <a:noFill/>
          <a:ln/>
        </p:spPr>
        <p:txBody>
          <a:bodyPr wrap="square" lIns="0" tIns="0" rIns="0" bIns="0" rtlCol="0" anchor="ctr"/>
          <a:lstStyle/>
          <a:p>
            <a:pPr marL="0" indent="0" algn="ctr">
              <a:buNone/>
            </a:pPr>
            <a:r>
              <a:rPr lang="en-US" sz="1300" b="1">
                <a:solidFill>
                  <a:srgbClr val="6C4AB6"/>
                </a:solidFill>
                <a:latin typeface="Calibri" pitchFamily="34" charset="0"/>
                <a:cs typeface="Calibri" pitchFamily="34" charset="-120"/>
              </a:rPr>
              <a:t>3</a:t>
            </a:r>
            <a:endParaRPr lang="en-US" sz="1300"/>
          </a:p>
        </p:txBody>
      </p:sp>
      <p:sp>
        <p:nvSpPr>
          <p:cNvPr id="10" name="Text 8"/>
          <p:cNvSpPr/>
          <p:nvPr/>
        </p:nvSpPr>
        <p:spPr>
          <a:xfrm>
            <a:off x="1051560" y="2927335"/>
            <a:ext cx="4892040" cy="411480"/>
          </a:xfrm>
          <a:prstGeom prst="rect">
            <a:avLst/>
          </a:prstGeom>
          <a:noFill/>
          <a:ln/>
        </p:spPr>
        <p:txBody>
          <a:bodyPr wrap="square" lIns="0" tIns="0" rIns="0" bIns="0" rtlCol="0" anchor="ctr"/>
          <a:lstStyle/>
          <a:p>
            <a:pPr marL="0" indent="0">
              <a:buNone/>
            </a:pPr>
            <a:r>
              <a:rPr lang="en-US" sz="1900">
                <a:solidFill>
                  <a:srgbClr val="1B1B2F"/>
                </a:solidFill>
                <a:latin typeface="Calibri" pitchFamily="34" charset="0"/>
                <a:ea typeface="Calibri" pitchFamily="34" charset="-122"/>
                <a:cs typeface="Calibri" pitchFamily="34" charset="-120"/>
              </a:rPr>
              <a:t>Why This Project / Dataset?</a:t>
            </a:r>
            <a:endParaRPr lang="en-US" sz="1900"/>
          </a:p>
        </p:txBody>
      </p:sp>
      <p:sp>
        <p:nvSpPr>
          <p:cNvPr id="11" name="Shape 9"/>
          <p:cNvSpPr/>
          <p:nvPr/>
        </p:nvSpPr>
        <p:spPr>
          <a:xfrm>
            <a:off x="548640" y="3466885"/>
            <a:ext cx="365760" cy="365760"/>
          </a:xfrm>
          <a:prstGeom prst="ellipse">
            <a:avLst/>
          </a:prstGeom>
          <a:solidFill>
            <a:srgbClr val="EDE7F9"/>
          </a:solidFill>
          <a:ln w="12700">
            <a:solidFill>
              <a:srgbClr val="6C4AB6"/>
            </a:solidFill>
            <a:prstDash val="solid"/>
          </a:ln>
        </p:spPr>
      </p:sp>
      <p:sp>
        <p:nvSpPr>
          <p:cNvPr id="12" name="Text 10"/>
          <p:cNvSpPr/>
          <p:nvPr/>
        </p:nvSpPr>
        <p:spPr>
          <a:xfrm>
            <a:off x="557003" y="3447943"/>
            <a:ext cx="365760" cy="365760"/>
          </a:xfrm>
          <a:prstGeom prst="rect">
            <a:avLst/>
          </a:prstGeom>
          <a:noFill/>
          <a:ln/>
        </p:spPr>
        <p:txBody>
          <a:bodyPr wrap="square" lIns="0" tIns="0" rIns="0" bIns="0" rtlCol="0" anchor="ctr"/>
          <a:lstStyle/>
          <a:p>
            <a:pPr marL="0" indent="0" algn="ctr">
              <a:buNone/>
            </a:pPr>
            <a:r>
              <a:rPr lang="en-US" sz="1300" b="1">
                <a:solidFill>
                  <a:srgbClr val="6C4AB6"/>
                </a:solidFill>
                <a:latin typeface="Calibri" pitchFamily="34" charset="0"/>
                <a:cs typeface="Calibri" pitchFamily="34" charset="-120"/>
              </a:rPr>
              <a:t>4</a:t>
            </a:r>
            <a:endParaRPr lang="en-US" sz="1300"/>
          </a:p>
        </p:txBody>
      </p:sp>
      <p:sp>
        <p:nvSpPr>
          <p:cNvPr id="13" name="Text 11"/>
          <p:cNvSpPr/>
          <p:nvPr/>
        </p:nvSpPr>
        <p:spPr>
          <a:xfrm>
            <a:off x="1051560" y="3455177"/>
            <a:ext cx="4892040" cy="411480"/>
          </a:xfrm>
          <a:prstGeom prst="rect">
            <a:avLst/>
          </a:prstGeom>
          <a:noFill/>
          <a:ln/>
        </p:spPr>
        <p:txBody>
          <a:bodyPr wrap="square" lIns="0" tIns="0" rIns="0" bIns="0" rtlCol="0" anchor="ctr"/>
          <a:lstStyle/>
          <a:p>
            <a:pPr marL="0" indent="0">
              <a:buNone/>
            </a:pPr>
            <a:r>
              <a:rPr lang="en-US" sz="1900" dirty="0">
                <a:solidFill>
                  <a:srgbClr val="1B1B2F"/>
                </a:solidFill>
                <a:latin typeface="Calibri" pitchFamily="34" charset="0"/>
                <a:ea typeface="Calibri" pitchFamily="34" charset="-122"/>
                <a:cs typeface="Calibri" pitchFamily="34" charset="-120"/>
              </a:rPr>
              <a:t>Dataset </a:t>
            </a:r>
            <a:r>
              <a:rPr lang="en-US" sz="1900" dirty="0" smtClean="0">
                <a:solidFill>
                  <a:srgbClr val="1B1B2F"/>
                </a:solidFill>
                <a:latin typeface="Calibri" pitchFamily="34" charset="0"/>
                <a:ea typeface="Calibri" pitchFamily="34" charset="-122"/>
                <a:cs typeface="Calibri" pitchFamily="34" charset="-120"/>
              </a:rPr>
              <a:t>Information: </a:t>
            </a:r>
            <a:r>
              <a:rPr lang="en-US" sz="1900" dirty="0" err="1" smtClean="0">
                <a:solidFill>
                  <a:srgbClr val="1B1B2F"/>
                </a:solidFill>
                <a:latin typeface="Calibri" pitchFamily="34" charset="0"/>
                <a:ea typeface="Calibri" pitchFamily="34" charset="-122"/>
                <a:cs typeface="Calibri" pitchFamily="34" charset="-120"/>
              </a:rPr>
              <a:t>Uncleaned</a:t>
            </a:r>
            <a:r>
              <a:rPr lang="en-US" sz="1900" dirty="0" smtClean="0">
                <a:solidFill>
                  <a:srgbClr val="1B1B2F"/>
                </a:solidFill>
                <a:latin typeface="Calibri" pitchFamily="34" charset="0"/>
                <a:ea typeface="Calibri" pitchFamily="34" charset="-122"/>
                <a:cs typeface="Calibri" pitchFamily="34" charset="-120"/>
              </a:rPr>
              <a:t> Data</a:t>
            </a:r>
            <a:endParaRPr lang="en-US" sz="1900" dirty="0"/>
          </a:p>
        </p:txBody>
      </p:sp>
      <p:sp>
        <p:nvSpPr>
          <p:cNvPr id="14" name="Shape 12"/>
          <p:cNvSpPr/>
          <p:nvPr/>
        </p:nvSpPr>
        <p:spPr>
          <a:xfrm>
            <a:off x="558258" y="4052849"/>
            <a:ext cx="365760" cy="365760"/>
          </a:xfrm>
          <a:prstGeom prst="ellipse">
            <a:avLst/>
          </a:prstGeom>
          <a:solidFill>
            <a:srgbClr val="EDE7F9"/>
          </a:solidFill>
          <a:ln w="12700">
            <a:solidFill>
              <a:srgbClr val="6C4AB6"/>
            </a:solidFill>
            <a:prstDash val="solid"/>
          </a:ln>
        </p:spPr>
      </p:sp>
      <p:sp>
        <p:nvSpPr>
          <p:cNvPr id="15" name="Text 13"/>
          <p:cNvSpPr/>
          <p:nvPr/>
        </p:nvSpPr>
        <p:spPr>
          <a:xfrm>
            <a:off x="558258" y="4030871"/>
            <a:ext cx="365760" cy="365760"/>
          </a:xfrm>
          <a:prstGeom prst="rect">
            <a:avLst/>
          </a:prstGeom>
          <a:noFill/>
          <a:ln/>
        </p:spPr>
        <p:txBody>
          <a:bodyPr wrap="square" lIns="0" tIns="0" rIns="0" bIns="0" rtlCol="0" anchor="ctr"/>
          <a:lstStyle/>
          <a:p>
            <a:pPr marL="0" indent="0" algn="ctr">
              <a:buNone/>
            </a:pPr>
            <a:r>
              <a:rPr lang="en-US" sz="1300" b="1" dirty="0">
                <a:solidFill>
                  <a:srgbClr val="6C4AB6"/>
                </a:solidFill>
                <a:latin typeface="Calibri" pitchFamily="34" charset="0"/>
                <a:cs typeface="Calibri" pitchFamily="34" charset="-120"/>
              </a:rPr>
              <a:t>5</a:t>
            </a:r>
            <a:endParaRPr lang="en-US" sz="1300" dirty="0"/>
          </a:p>
        </p:txBody>
      </p:sp>
      <p:sp>
        <p:nvSpPr>
          <p:cNvPr id="16" name="Text 14"/>
          <p:cNvSpPr/>
          <p:nvPr/>
        </p:nvSpPr>
        <p:spPr>
          <a:xfrm>
            <a:off x="1051560" y="4010132"/>
            <a:ext cx="4892040" cy="411480"/>
          </a:xfrm>
          <a:prstGeom prst="rect">
            <a:avLst/>
          </a:prstGeom>
          <a:noFill/>
          <a:ln/>
        </p:spPr>
        <p:txBody>
          <a:bodyPr wrap="square" lIns="0" tIns="0" rIns="0" bIns="0" rtlCol="0" anchor="ctr"/>
          <a:lstStyle/>
          <a:p>
            <a:pPr marL="0" indent="0">
              <a:buNone/>
            </a:pPr>
            <a:r>
              <a:rPr lang="en-US" sz="1900" dirty="0" smtClean="0">
                <a:solidFill>
                  <a:srgbClr val="1B1B2F"/>
                </a:solidFill>
                <a:latin typeface="Calibri" pitchFamily="34" charset="0"/>
                <a:cs typeface="Calibri" pitchFamily="34" charset="-120"/>
              </a:rPr>
              <a:t>Overview of Data Handling</a:t>
            </a:r>
            <a:endParaRPr lang="en-US" sz="1900" dirty="0"/>
          </a:p>
        </p:txBody>
      </p:sp>
      <p:sp>
        <p:nvSpPr>
          <p:cNvPr id="17" name="Shape 15"/>
          <p:cNvSpPr/>
          <p:nvPr/>
        </p:nvSpPr>
        <p:spPr>
          <a:xfrm>
            <a:off x="558258" y="4641805"/>
            <a:ext cx="365760" cy="347138"/>
          </a:xfrm>
          <a:prstGeom prst="ellipse">
            <a:avLst/>
          </a:prstGeom>
          <a:solidFill>
            <a:srgbClr val="EDE7F9"/>
          </a:solidFill>
          <a:ln w="12700">
            <a:solidFill>
              <a:srgbClr val="6C4AB6"/>
            </a:solidFill>
            <a:prstDash val="solid"/>
          </a:ln>
        </p:spPr>
      </p:sp>
      <p:sp>
        <p:nvSpPr>
          <p:cNvPr id="18" name="Text 16"/>
          <p:cNvSpPr/>
          <p:nvPr/>
        </p:nvSpPr>
        <p:spPr>
          <a:xfrm>
            <a:off x="625723" y="4634878"/>
            <a:ext cx="211594" cy="317310"/>
          </a:xfrm>
          <a:prstGeom prst="rect">
            <a:avLst/>
          </a:prstGeom>
          <a:noFill/>
          <a:ln/>
        </p:spPr>
        <p:txBody>
          <a:bodyPr wrap="square" lIns="0" tIns="0" rIns="0" bIns="0" rtlCol="0" anchor="ctr"/>
          <a:lstStyle/>
          <a:p>
            <a:pPr marL="0" indent="0" algn="ctr">
              <a:buNone/>
            </a:pPr>
            <a:r>
              <a:rPr lang="en-US" sz="1300" b="1" dirty="0">
                <a:solidFill>
                  <a:srgbClr val="6C4AB6"/>
                </a:solidFill>
                <a:latin typeface="Calibri" pitchFamily="34" charset="0"/>
                <a:cs typeface="Calibri" pitchFamily="34" charset="-120"/>
              </a:rPr>
              <a:t>6</a:t>
            </a:r>
            <a:endParaRPr lang="en-US" sz="1300" dirty="0"/>
          </a:p>
        </p:txBody>
      </p:sp>
      <p:sp>
        <p:nvSpPr>
          <p:cNvPr id="19" name="Text 17"/>
          <p:cNvSpPr/>
          <p:nvPr/>
        </p:nvSpPr>
        <p:spPr>
          <a:xfrm>
            <a:off x="1051560" y="4609760"/>
            <a:ext cx="4892040" cy="411480"/>
          </a:xfrm>
          <a:prstGeom prst="rect">
            <a:avLst/>
          </a:prstGeom>
          <a:noFill/>
          <a:ln/>
        </p:spPr>
        <p:txBody>
          <a:bodyPr wrap="square" lIns="0" tIns="0" rIns="0" bIns="0" rtlCol="0" anchor="ctr"/>
          <a:lstStyle/>
          <a:p>
            <a:pPr marL="0" indent="0">
              <a:buNone/>
            </a:pPr>
            <a:r>
              <a:rPr lang="en-US" sz="1900" dirty="0">
                <a:solidFill>
                  <a:srgbClr val="1B1B2F"/>
                </a:solidFill>
                <a:latin typeface="Calibri" pitchFamily="34" charset="0"/>
                <a:ea typeface="Calibri" pitchFamily="34" charset="-122"/>
                <a:cs typeface="Calibri" pitchFamily="34" charset="-120"/>
              </a:rPr>
              <a:t>Data </a:t>
            </a:r>
            <a:r>
              <a:rPr lang="en-US" sz="1900" dirty="0" smtClean="0">
                <a:solidFill>
                  <a:srgbClr val="1B1B2F"/>
                </a:solidFill>
                <a:latin typeface="Calibri" pitchFamily="34" charset="0"/>
                <a:ea typeface="Calibri" pitchFamily="34" charset="-122"/>
                <a:cs typeface="Calibri" pitchFamily="34" charset="-120"/>
              </a:rPr>
              <a:t>Cleaning</a:t>
            </a:r>
            <a:endParaRPr lang="en-US" sz="1900" dirty="0"/>
          </a:p>
        </p:txBody>
      </p:sp>
      <p:sp>
        <p:nvSpPr>
          <p:cNvPr id="20" name="Shape 18"/>
          <p:cNvSpPr/>
          <p:nvPr/>
        </p:nvSpPr>
        <p:spPr>
          <a:xfrm>
            <a:off x="6583750" y="2342240"/>
            <a:ext cx="365760" cy="367768"/>
          </a:xfrm>
          <a:prstGeom prst="ellipse">
            <a:avLst/>
          </a:prstGeom>
          <a:solidFill>
            <a:srgbClr val="EDE7F9"/>
          </a:solidFill>
          <a:ln w="12700">
            <a:solidFill>
              <a:srgbClr val="6C4AB6"/>
            </a:solidFill>
            <a:prstDash val="solid"/>
          </a:ln>
        </p:spPr>
      </p:sp>
      <p:sp>
        <p:nvSpPr>
          <p:cNvPr id="21" name="Text 19"/>
          <p:cNvSpPr/>
          <p:nvPr/>
        </p:nvSpPr>
        <p:spPr>
          <a:xfrm>
            <a:off x="6583750" y="2328854"/>
            <a:ext cx="365760" cy="365760"/>
          </a:xfrm>
          <a:prstGeom prst="rect">
            <a:avLst/>
          </a:prstGeom>
          <a:noFill/>
          <a:ln/>
        </p:spPr>
        <p:txBody>
          <a:bodyPr wrap="square" lIns="0" tIns="0" rIns="0" bIns="0" rtlCol="0" anchor="ctr"/>
          <a:lstStyle/>
          <a:p>
            <a:pPr marL="0" indent="0" algn="ctr">
              <a:buNone/>
            </a:pPr>
            <a:r>
              <a:rPr lang="en-US" sz="1300" b="1" dirty="0">
                <a:solidFill>
                  <a:srgbClr val="6C4AB6"/>
                </a:solidFill>
                <a:latin typeface="Calibri" pitchFamily="34" charset="0"/>
                <a:cs typeface="Calibri" pitchFamily="34" charset="-120"/>
              </a:rPr>
              <a:t>9</a:t>
            </a:r>
            <a:endParaRPr lang="en-US" sz="1300" dirty="0"/>
          </a:p>
        </p:txBody>
      </p:sp>
      <p:sp>
        <p:nvSpPr>
          <p:cNvPr id="22" name="Text 20"/>
          <p:cNvSpPr/>
          <p:nvPr/>
        </p:nvSpPr>
        <p:spPr>
          <a:xfrm>
            <a:off x="7086600" y="2334145"/>
            <a:ext cx="4892040" cy="411480"/>
          </a:xfrm>
          <a:prstGeom prst="rect">
            <a:avLst/>
          </a:prstGeom>
          <a:noFill/>
          <a:ln/>
        </p:spPr>
        <p:txBody>
          <a:bodyPr wrap="square" lIns="0" tIns="0" rIns="0" bIns="0" rtlCol="0" anchor="ctr"/>
          <a:lstStyle/>
          <a:p>
            <a:pPr marL="0" indent="0">
              <a:buNone/>
            </a:pPr>
            <a:r>
              <a:rPr lang="en-US" sz="1900" dirty="0">
                <a:solidFill>
                  <a:srgbClr val="1B1B2F"/>
                </a:solidFill>
                <a:latin typeface="Calibri" pitchFamily="34" charset="0"/>
                <a:ea typeface="Calibri" pitchFamily="34" charset="-122"/>
                <a:cs typeface="Calibri" pitchFamily="34" charset="-120"/>
              </a:rPr>
              <a:t>Exploratory Data Analysis — </a:t>
            </a:r>
            <a:r>
              <a:rPr lang="en-US" sz="1900" dirty="0" err="1">
                <a:solidFill>
                  <a:srgbClr val="1B1B2F"/>
                </a:solidFill>
                <a:latin typeface="Calibri" pitchFamily="34" charset="0"/>
                <a:ea typeface="Calibri" pitchFamily="34" charset="-122"/>
                <a:cs typeface="Calibri" pitchFamily="34" charset="-120"/>
              </a:rPr>
              <a:t>Univariate</a:t>
            </a:r>
            <a:endParaRPr lang="en-US" sz="1900" dirty="0"/>
          </a:p>
        </p:txBody>
      </p:sp>
      <p:sp>
        <p:nvSpPr>
          <p:cNvPr id="23" name="Shape 21"/>
          <p:cNvSpPr/>
          <p:nvPr/>
        </p:nvSpPr>
        <p:spPr>
          <a:xfrm>
            <a:off x="6583680" y="2856389"/>
            <a:ext cx="365760" cy="365760"/>
          </a:xfrm>
          <a:prstGeom prst="ellipse">
            <a:avLst/>
          </a:prstGeom>
          <a:solidFill>
            <a:srgbClr val="EDE7F9"/>
          </a:solidFill>
          <a:ln w="12700">
            <a:solidFill>
              <a:srgbClr val="6C4AB6"/>
            </a:solidFill>
            <a:prstDash val="solid"/>
          </a:ln>
        </p:spPr>
      </p:sp>
      <p:sp>
        <p:nvSpPr>
          <p:cNvPr id="24" name="Text 22"/>
          <p:cNvSpPr/>
          <p:nvPr/>
        </p:nvSpPr>
        <p:spPr>
          <a:xfrm>
            <a:off x="6583680" y="2843003"/>
            <a:ext cx="365760" cy="365760"/>
          </a:xfrm>
          <a:prstGeom prst="rect">
            <a:avLst/>
          </a:prstGeom>
          <a:noFill/>
          <a:ln/>
        </p:spPr>
        <p:txBody>
          <a:bodyPr wrap="square" lIns="0" tIns="0" rIns="0" bIns="0" rtlCol="0" anchor="ctr"/>
          <a:lstStyle/>
          <a:p>
            <a:pPr marL="0" indent="0" algn="ctr">
              <a:buNone/>
            </a:pPr>
            <a:r>
              <a:rPr lang="en-US" sz="1300" b="1" dirty="0" smtClean="0">
                <a:solidFill>
                  <a:srgbClr val="6C4AB6"/>
                </a:solidFill>
                <a:latin typeface="Calibri" pitchFamily="34" charset="0"/>
                <a:cs typeface="Calibri" pitchFamily="34" charset="-120"/>
              </a:rPr>
              <a:t>10</a:t>
            </a:r>
            <a:endParaRPr lang="en-US" sz="1300" dirty="0"/>
          </a:p>
        </p:txBody>
      </p:sp>
      <p:sp>
        <p:nvSpPr>
          <p:cNvPr id="25" name="Text 23"/>
          <p:cNvSpPr/>
          <p:nvPr/>
        </p:nvSpPr>
        <p:spPr>
          <a:xfrm>
            <a:off x="7086600" y="2850251"/>
            <a:ext cx="4892040" cy="411480"/>
          </a:xfrm>
          <a:prstGeom prst="rect">
            <a:avLst/>
          </a:prstGeom>
          <a:noFill/>
          <a:ln/>
        </p:spPr>
        <p:txBody>
          <a:bodyPr wrap="square" lIns="0" tIns="0" rIns="0" bIns="0" rtlCol="0" anchor="ctr"/>
          <a:lstStyle/>
          <a:p>
            <a:pPr marL="0" indent="0">
              <a:buNone/>
            </a:pPr>
            <a:r>
              <a:rPr lang="en-US" sz="1900" dirty="0">
                <a:solidFill>
                  <a:srgbClr val="1B1B2F"/>
                </a:solidFill>
                <a:latin typeface="Calibri" pitchFamily="34" charset="0"/>
                <a:ea typeface="Calibri" pitchFamily="34" charset="-122"/>
                <a:cs typeface="Calibri" pitchFamily="34" charset="-120"/>
              </a:rPr>
              <a:t>Exploratory Data Analysis — Bivariate</a:t>
            </a:r>
            <a:endParaRPr lang="en-US" sz="1900" dirty="0"/>
          </a:p>
        </p:txBody>
      </p:sp>
      <p:sp>
        <p:nvSpPr>
          <p:cNvPr id="26" name="Shape 24"/>
          <p:cNvSpPr/>
          <p:nvPr/>
        </p:nvSpPr>
        <p:spPr>
          <a:xfrm>
            <a:off x="6583680" y="3447553"/>
            <a:ext cx="365760" cy="365760"/>
          </a:xfrm>
          <a:prstGeom prst="ellipse">
            <a:avLst/>
          </a:prstGeom>
          <a:solidFill>
            <a:srgbClr val="EDE7F9"/>
          </a:solidFill>
          <a:ln w="12700">
            <a:solidFill>
              <a:srgbClr val="6C4AB6"/>
            </a:solidFill>
            <a:prstDash val="solid"/>
          </a:ln>
        </p:spPr>
      </p:sp>
      <p:sp>
        <p:nvSpPr>
          <p:cNvPr id="27" name="Text 25"/>
          <p:cNvSpPr/>
          <p:nvPr/>
        </p:nvSpPr>
        <p:spPr>
          <a:xfrm>
            <a:off x="6583680" y="3447553"/>
            <a:ext cx="365760" cy="365760"/>
          </a:xfrm>
          <a:prstGeom prst="rect">
            <a:avLst/>
          </a:prstGeom>
          <a:noFill/>
          <a:ln/>
        </p:spPr>
        <p:txBody>
          <a:bodyPr wrap="square" lIns="0" tIns="0" rIns="0" bIns="0" rtlCol="0" anchor="ctr"/>
          <a:lstStyle/>
          <a:p>
            <a:pPr marL="0" indent="0" algn="ctr">
              <a:buNone/>
            </a:pPr>
            <a:r>
              <a:rPr lang="en-US" sz="1300" b="1" dirty="0" smtClean="0">
                <a:solidFill>
                  <a:srgbClr val="6C4AB6"/>
                </a:solidFill>
                <a:latin typeface="Calibri" pitchFamily="34" charset="0"/>
                <a:cs typeface="Calibri" pitchFamily="34" charset="-120"/>
              </a:rPr>
              <a:t>11</a:t>
            </a:r>
            <a:endParaRPr lang="en-US" sz="1300" dirty="0"/>
          </a:p>
        </p:txBody>
      </p:sp>
      <p:sp>
        <p:nvSpPr>
          <p:cNvPr id="28" name="Text 26"/>
          <p:cNvSpPr/>
          <p:nvPr/>
        </p:nvSpPr>
        <p:spPr>
          <a:xfrm>
            <a:off x="7086600" y="3401833"/>
            <a:ext cx="4892040" cy="411480"/>
          </a:xfrm>
          <a:prstGeom prst="rect">
            <a:avLst/>
          </a:prstGeom>
          <a:noFill/>
          <a:ln/>
        </p:spPr>
        <p:txBody>
          <a:bodyPr wrap="square" lIns="0" tIns="0" rIns="0" bIns="0" rtlCol="0" anchor="ctr"/>
          <a:lstStyle/>
          <a:p>
            <a:pPr marL="0" indent="0">
              <a:buNone/>
            </a:pPr>
            <a:r>
              <a:rPr lang="en-US" sz="1900" dirty="0">
                <a:solidFill>
                  <a:srgbClr val="1B1B2F"/>
                </a:solidFill>
                <a:latin typeface="Calibri" pitchFamily="34" charset="0"/>
                <a:ea typeface="Calibri" pitchFamily="34" charset="-122"/>
                <a:cs typeface="Calibri" pitchFamily="34" charset="-120"/>
              </a:rPr>
              <a:t>Exploratory Data Analysis — Multivariate</a:t>
            </a:r>
            <a:endParaRPr lang="en-US" sz="1900" dirty="0"/>
          </a:p>
        </p:txBody>
      </p:sp>
      <p:sp>
        <p:nvSpPr>
          <p:cNvPr id="32" name="Shape 30"/>
          <p:cNvSpPr/>
          <p:nvPr/>
        </p:nvSpPr>
        <p:spPr>
          <a:xfrm>
            <a:off x="6591765" y="4055852"/>
            <a:ext cx="365760" cy="365760"/>
          </a:xfrm>
          <a:prstGeom prst="ellipse">
            <a:avLst/>
          </a:prstGeom>
          <a:solidFill>
            <a:srgbClr val="EDE7F9"/>
          </a:solidFill>
          <a:ln w="12700">
            <a:solidFill>
              <a:srgbClr val="6C4AB6"/>
            </a:solidFill>
            <a:prstDash val="solid"/>
          </a:ln>
        </p:spPr>
      </p:sp>
      <p:sp>
        <p:nvSpPr>
          <p:cNvPr id="33" name="Text 31"/>
          <p:cNvSpPr/>
          <p:nvPr/>
        </p:nvSpPr>
        <p:spPr>
          <a:xfrm>
            <a:off x="6611697" y="4052849"/>
            <a:ext cx="365760" cy="365760"/>
          </a:xfrm>
          <a:prstGeom prst="rect">
            <a:avLst/>
          </a:prstGeom>
          <a:noFill/>
          <a:ln/>
        </p:spPr>
        <p:txBody>
          <a:bodyPr wrap="square" lIns="0" tIns="0" rIns="0" bIns="0" rtlCol="0" anchor="ctr"/>
          <a:lstStyle/>
          <a:p>
            <a:pPr marL="0" indent="0" algn="ctr">
              <a:buNone/>
            </a:pPr>
            <a:r>
              <a:rPr lang="en-US" sz="1300" b="1" dirty="0" smtClean="0">
                <a:solidFill>
                  <a:srgbClr val="6C4AB6"/>
                </a:solidFill>
                <a:latin typeface="Calibri" pitchFamily="34" charset="0"/>
                <a:ea typeface="Calibri" pitchFamily="34" charset="-122"/>
                <a:cs typeface="Calibri" pitchFamily="34" charset="-120"/>
              </a:rPr>
              <a:t>12</a:t>
            </a:r>
            <a:endParaRPr lang="en-US" sz="1300" dirty="0"/>
          </a:p>
        </p:txBody>
      </p:sp>
      <p:sp>
        <p:nvSpPr>
          <p:cNvPr id="34" name="Text 32"/>
          <p:cNvSpPr/>
          <p:nvPr/>
        </p:nvSpPr>
        <p:spPr>
          <a:xfrm>
            <a:off x="6977457" y="4600212"/>
            <a:ext cx="4892040" cy="411480"/>
          </a:xfrm>
          <a:prstGeom prst="rect">
            <a:avLst/>
          </a:prstGeom>
          <a:noFill/>
          <a:ln/>
        </p:spPr>
        <p:txBody>
          <a:bodyPr wrap="square" lIns="0" tIns="0" rIns="0" bIns="0" rtlCol="0" anchor="ctr"/>
          <a:lstStyle/>
          <a:p>
            <a:pPr marL="0" indent="0">
              <a:buNone/>
            </a:pPr>
            <a:r>
              <a:rPr lang="en-US" sz="1900" dirty="0">
                <a:solidFill>
                  <a:srgbClr val="1B1B2F"/>
                </a:solidFill>
                <a:latin typeface="Calibri" pitchFamily="34" charset="0"/>
                <a:ea typeface="Calibri" pitchFamily="34" charset="-122"/>
                <a:cs typeface="Calibri" pitchFamily="34" charset="-120"/>
              </a:rPr>
              <a:t>Conclusion &amp; Learnings</a:t>
            </a:r>
            <a:endParaRPr lang="en-US" sz="1900" dirty="0"/>
          </a:p>
        </p:txBody>
      </p:sp>
      <p:sp>
        <p:nvSpPr>
          <p:cNvPr id="35" name="Shape 33"/>
          <p:cNvSpPr/>
          <p:nvPr/>
        </p:nvSpPr>
        <p:spPr>
          <a:xfrm>
            <a:off x="6564584" y="4634878"/>
            <a:ext cx="365760" cy="365760"/>
          </a:xfrm>
          <a:prstGeom prst="ellipse">
            <a:avLst/>
          </a:prstGeom>
          <a:solidFill>
            <a:srgbClr val="EDE7F9"/>
          </a:solidFill>
          <a:ln w="12700">
            <a:solidFill>
              <a:srgbClr val="6C4AB6"/>
            </a:solidFill>
            <a:prstDash val="solid"/>
          </a:ln>
        </p:spPr>
      </p:sp>
      <p:sp>
        <p:nvSpPr>
          <p:cNvPr id="36" name="Text 34"/>
          <p:cNvSpPr/>
          <p:nvPr/>
        </p:nvSpPr>
        <p:spPr>
          <a:xfrm>
            <a:off x="6564584" y="4648264"/>
            <a:ext cx="365760" cy="365760"/>
          </a:xfrm>
          <a:prstGeom prst="rect">
            <a:avLst/>
          </a:prstGeom>
          <a:noFill/>
          <a:ln/>
        </p:spPr>
        <p:txBody>
          <a:bodyPr wrap="square" lIns="0" tIns="0" rIns="0" bIns="0" rtlCol="0" anchor="ctr"/>
          <a:lstStyle/>
          <a:p>
            <a:pPr marL="0" indent="0" algn="ctr">
              <a:buNone/>
            </a:pPr>
            <a:r>
              <a:rPr lang="en-US" sz="1300" b="1" dirty="0" smtClean="0">
                <a:solidFill>
                  <a:srgbClr val="6C4AB6"/>
                </a:solidFill>
                <a:latin typeface="Calibri" pitchFamily="34" charset="0"/>
                <a:ea typeface="Calibri" pitchFamily="34" charset="-122"/>
                <a:cs typeface="Calibri" pitchFamily="34" charset="-120"/>
              </a:rPr>
              <a:t>13</a:t>
            </a:r>
            <a:endParaRPr lang="en-US" sz="1300" dirty="0"/>
          </a:p>
        </p:txBody>
      </p:sp>
      <p:sp>
        <p:nvSpPr>
          <p:cNvPr id="37" name="Text 35"/>
          <p:cNvSpPr/>
          <p:nvPr/>
        </p:nvSpPr>
        <p:spPr>
          <a:xfrm>
            <a:off x="7086600" y="4007129"/>
            <a:ext cx="4892040" cy="411480"/>
          </a:xfrm>
          <a:prstGeom prst="rect">
            <a:avLst/>
          </a:prstGeom>
          <a:noFill/>
          <a:ln/>
        </p:spPr>
        <p:txBody>
          <a:bodyPr wrap="square" lIns="0" tIns="0" rIns="0" bIns="0" rtlCol="0" anchor="ctr"/>
          <a:lstStyle/>
          <a:p>
            <a:pPr marL="0" indent="0">
              <a:buNone/>
            </a:pPr>
            <a:r>
              <a:rPr lang="en-US" sz="1900" dirty="0">
                <a:solidFill>
                  <a:srgbClr val="1B1B2F"/>
                </a:solidFill>
                <a:latin typeface="Calibri" pitchFamily="34" charset="0"/>
                <a:ea typeface="Calibri" pitchFamily="34" charset="-122"/>
                <a:cs typeface="Calibri" pitchFamily="34" charset="-120"/>
              </a:rPr>
              <a:t>Challenges Faced</a:t>
            </a:r>
            <a:endParaRPr lang="en-US" sz="1900" dirty="0"/>
          </a:p>
        </p:txBody>
      </p:sp>
      <p:sp>
        <p:nvSpPr>
          <p:cNvPr id="41" name="Text 39"/>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42" name="Text 40"/>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a:solidFill>
                  <a:srgbClr val="5B5470"/>
                </a:solidFill>
                <a:latin typeface="Calibri" pitchFamily="34" charset="0"/>
                <a:ea typeface="Calibri" pitchFamily="34" charset="-122"/>
                <a:cs typeface="Calibri" pitchFamily="34" charset="-120"/>
              </a:rPr>
              <a:t>3</a:t>
            </a:r>
            <a:endParaRPr lang="en-US" sz="900"/>
          </a:p>
        </p:txBody>
      </p:sp>
      <p:sp>
        <p:nvSpPr>
          <p:cNvPr id="40" name="Text 8"/>
          <p:cNvSpPr/>
          <p:nvPr/>
        </p:nvSpPr>
        <p:spPr>
          <a:xfrm>
            <a:off x="1090589" y="2419257"/>
            <a:ext cx="4892040" cy="411480"/>
          </a:xfrm>
          <a:prstGeom prst="rect">
            <a:avLst/>
          </a:prstGeom>
          <a:noFill/>
          <a:ln/>
        </p:spPr>
        <p:txBody>
          <a:bodyPr wrap="square" lIns="0" tIns="0" rIns="0" bIns="0" rtlCol="0" anchor="ctr"/>
          <a:lstStyle/>
          <a:p>
            <a:r>
              <a:rPr lang="en-US" sz="1900" dirty="0" smtClean="0">
                <a:solidFill>
                  <a:srgbClr val="1B1B2F"/>
                </a:solidFill>
                <a:latin typeface="Calibri" pitchFamily="34" charset="0"/>
                <a:ea typeface="Calibri" pitchFamily="34" charset="-122"/>
                <a:cs typeface="Calibri" pitchFamily="34" charset="-120"/>
              </a:rPr>
              <a:t>Objectives</a:t>
            </a:r>
            <a:endParaRPr lang="en-US" sz="1900" dirty="0">
              <a:solidFill>
                <a:srgbClr val="1B1B2F"/>
              </a:solidFill>
              <a:latin typeface="Calibri" pitchFamily="34" charset="0"/>
              <a:ea typeface="Calibri" pitchFamily="34" charset="-122"/>
              <a:cs typeface="Calibri" pitchFamily="34" charset="-120"/>
            </a:endParaRPr>
          </a:p>
        </p:txBody>
      </p:sp>
      <p:sp>
        <p:nvSpPr>
          <p:cNvPr id="45" name="Shape 6"/>
          <p:cNvSpPr/>
          <p:nvPr/>
        </p:nvSpPr>
        <p:spPr>
          <a:xfrm>
            <a:off x="547246" y="2475027"/>
            <a:ext cx="365760" cy="365760"/>
          </a:xfrm>
          <a:prstGeom prst="ellipse">
            <a:avLst/>
          </a:prstGeom>
          <a:solidFill>
            <a:srgbClr val="EDE7F9"/>
          </a:solidFill>
          <a:ln w="12700">
            <a:solidFill>
              <a:srgbClr val="6C4AB6"/>
            </a:solidFill>
            <a:prstDash val="solid"/>
          </a:ln>
        </p:spPr>
      </p:sp>
      <p:sp>
        <p:nvSpPr>
          <p:cNvPr id="38" name="TextBox 37"/>
          <p:cNvSpPr txBox="1"/>
          <p:nvPr/>
        </p:nvSpPr>
        <p:spPr>
          <a:xfrm>
            <a:off x="596869" y="2483282"/>
            <a:ext cx="231945" cy="569387"/>
          </a:xfrm>
          <a:prstGeom prst="rect">
            <a:avLst/>
          </a:prstGeom>
          <a:noFill/>
        </p:spPr>
        <p:txBody>
          <a:bodyPr wrap="square" rtlCol="0">
            <a:spAutoFit/>
          </a:bodyPr>
          <a:lstStyle/>
          <a:p>
            <a:r>
              <a:rPr lang="en-US" sz="1300" b="1">
                <a:solidFill>
                  <a:srgbClr val="6C4AB6"/>
                </a:solidFill>
                <a:latin typeface="Calibri" pitchFamily="34" charset="0"/>
                <a:ea typeface="Calibri" pitchFamily="34" charset="-122"/>
                <a:cs typeface="Calibri" pitchFamily="34" charset="-120"/>
              </a:rPr>
              <a:t>2</a:t>
            </a:r>
            <a:endParaRPr lang="en-US" sz="1300"/>
          </a:p>
          <a:p>
            <a:endParaRPr lang="en-US"/>
          </a:p>
        </p:txBody>
      </p:sp>
      <p:sp>
        <p:nvSpPr>
          <p:cNvPr id="43" name="Shape 12"/>
          <p:cNvSpPr/>
          <p:nvPr/>
        </p:nvSpPr>
        <p:spPr>
          <a:xfrm>
            <a:off x="563834" y="5283547"/>
            <a:ext cx="365760" cy="365760"/>
          </a:xfrm>
          <a:prstGeom prst="ellipse">
            <a:avLst/>
          </a:prstGeom>
          <a:solidFill>
            <a:srgbClr val="EDE7F9"/>
          </a:solidFill>
          <a:ln w="12700">
            <a:solidFill>
              <a:srgbClr val="6C4AB6"/>
            </a:solidFill>
            <a:prstDash val="solid"/>
          </a:ln>
        </p:spPr>
      </p:sp>
      <p:sp>
        <p:nvSpPr>
          <p:cNvPr id="39" name="Rectangle 38"/>
          <p:cNvSpPr/>
          <p:nvPr/>
        </p:nvSpPr>
        <p:spPr>
          <a:xfrm>
            <a:off x="965696" y="5283547"/>
            <a:ext cx="1427570" cy="384721"/>
          </a:xfrm>
          <a:prstGeom prst="rect">
            <a:avLst/>
          </a:prstGeom>
        </p:spPr>
        <p:txBody>
          <a:bodyPr wrap="none">
            <a:spAutoFit/>
          </a:bodyPr>
          <a:lstStyle/>
          <a:p>
            <a:r>
              <a:rPr lang="en-US" sz="1900" dirty="0" smtClean="0">
                <a:solidFill>
                  <a:srgbClr val="1B1B2F"/>
                </a:solidFill>
                <a:latin typeface="Calibri" pitchFamily="34" charset="0"/>
                <a:cs typeface="Calibri" pitchFamily="34" charset="-120"/>
              </a:rPr>
              <a:t>Type Casting</a:t>
            </a:r>
            <a:endParaRPr lang="en-US" sz="1900" dirty="0"/>
          </a:p>
        </p:txBody>
      </p:sp>
      <p:sp>
        <p:nvSpPr>
          <p:cNvPr id="44" name="TextBox 43"/>
          <p:cNvSpPr txBox="1"/>
          <p:nvPr/>
        </p:nvSpPr>
        <p:spPr>
          <a:xfrm>
            <a:off x="547246" y="5326378"/>
            <a:ext cx="398936" cy="292388"/>
          </a:xfrm>
          <a:prstGeom prst="rect">
            <a:avLst/>
          </a:prstGeom>
          <a:noFill/>
        </p:spPr>
        <p:txBody>
          <a:bodyPr wrap="square" rtlCol="0">
            <a:spAutoFit/>
          </a:bodyPr>
          <a:lstStyle/>
          <a:p>
            <a:pPr algn="ctr"/>
            <a:r>
              <a:rPr lang="en-US" sz="1300" b="1" dirty="0" smtClean="0">
                <a:solidFill>
                  <a:srgbClr val="6C4AB6"/>
                </a:solidFill>
                <a:latin typeface="Calibri" pitchFamily="34" charset="0"/>
                <a:cs typeface="Calibri" pitchFamily="34" charset="-120"/>
              </a:rPr>
              <a:t>7</a:t>
            </a:r>
            <a:endParaRPr lang="en-US" sz="1300" dirty="0"/>
          </a:p>
        </p:txBody>
      </p:sp>
      <p:sp>
        <p:nvSpPr>
          <p:cNvPr id="47" name="Shape 18"/>
          <p:cNvSpPr/>
          <p:nvPr/>
        </p:nvSpPr>
        <p:spPr>
          <a:xfrm>
            <a:off x="6583680" y="1790574"/>
            <a:ext cx="365760" cy="367768"/>
          </a:xfrm>
          <a:prstGeom prst="ellipse">
            <a:avLst/>
          </a:prstGeom>
          <a:solidFill>
            <a:srgbClr val="EDE7F9"/>
          </a:solidFill>
          <a:ln w="12700">
            <a:solidFill>
              <a:srgbClr val="6C4AB6"/>
            </a:solidFill>
            <a:prstDash val="solid"/>
          </a:ln>
        </p:spPr>
      </p:sp>
      <p:sp>
        <p:nvSpPr>
          <p:cNvPr id="48" name="Rectangle 47"/>
          <p:cNvSpPr/>
          <p:nvPr/>
        </p:nvSpPr>
        <p:spPr>
          <a:xfrm>
            <a:off x="7086600" y="1790574"/>
            <a:ext cx="2428037" cy="384721"/>
          </a:xfrm>
          <a:prstGeom prst="rect">
            <a:avLst/>
          </a:prstGeom>
        </p:spPr>
        <p:txBody>
          <a:bodyPr wrap="none">
            <a:spAutoFit/>
          </a:bodyPr>
          <a:lstStyle/>
          <a:p>
            <a:r>
              <a:rPr lang="en-US" sz="1900" dirty="0" err="1" smtClean="0">
                <a:solidFill>
                  <a:srgbClr val="1B1B2F"/>
                </a:solidFill>
                <a:latin typeface="Calibri" pitchFamily="34" charset="0"/>
                <a:cs typeface="Calibri" pitchFamily="34" charset="-120"/>
              </a:rPr>
              <a:t>Vizualization</a:t>
            </a:r>
            <a:r>
              <a:rPr lang="en-US" sz="1900" dirty="0" smtClean="0">
                <a:solidFill>
                  <a:srgbClr val="1B1B2F"/>
                </a:solidFill>
                <a:latin typeface="Calibri" pitchFamily="34" charset="0"/>
                <a:cs typeface="Calibri" pitchFamily="34" charset="-120"/>
              </a:rPr>
              <a:t> Overview</a:t>
            </a:r>
            <a:endParaRPr lang="en-US" sz="1900" dirty="0"/>
          </a:p>
        </p:txBody>
      </p:sp>
      <p:sp>
        <p:nvSpPr>
          <p:cNvPr id="49" name="TextBox 48"/>
          <p:cNvSpPr txBox="1"/>
          <p:nvPr/>
        </p:nvSpPr>
        <p:spPr>
          <a:xfrm>
            <a:off x="6630097" y="1848643"/>
            <a:ext cx="363390" cy="292388"/>
          </a:xfrm>
          <a:prstGeom prst="rect">
            <a:avLst/>
          </a:prstGeom>
          <a:noFill/>
        </p:spPr>
        <p:txBody>
          <a:bodyPr wrap="square" rtlCol="0">
            <a:spAutoFit/>
          </a:bodyPr>
          <a:lstStyle/>
          <a:p>
            <a:r>
              <a:rPr lang="en-US" sz="1300" b="1" dirty="0" smtClean="0">
                <a:solidFill>
                  <a:srgbClr val="6C4AB6"/>
                </a:solidFill>
                <a:latin typeface="Calibri" pitchFamily="34" charset="0"/>
                <a:cs typeface="Calibri" pitchFamily="34" charset="-120"/>
              </a:rPr>
              <a:t>8</a:t>
            </a:r>
            <a:endParaRPr lang="en-US" sz="13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7686" y="475376"/>
            <a:ext cx="7159334" cy="553998"/>
          </a:xfrm>
          <a:prstGeom prst="rect">
            <a:avLst/>
          </a:prstGeom>
        </p:spPr>
        <p:txBody>
          <a:bodyPr wrap="square">
            <a:spAutoFit/>
          </a:bodyPr>
          <a:lstStyle/>
          <a:p>
            <a:r>
              <a:rPr lang="en-US" sz="3000" b="1" smtClean="0">
                <a:solidFill>
                  <a:srgbClr val="1B1B2F"/>
                </a:solidFill>
                <a:latin typeface="Cambria" pitchFamily="34" charset="0"/>
                <a:ea typeface="Cambria" pitchFamily="34" charset="-122"/>
                <a:cs typeface="Cambria" pitchFamily="34" charset="-120"/>
              </a:rPr>
              <a:t>Objectives:</a:t>
            </a:r>
            <a:endParaRPr lang="en-US" sz="3000" b="1" smtClean="0"/>
          </a:p>
        </p:txBody>
      </p:sp>
      <p:sp>
        <p:nvSpPr>
          <p:cNvPr id="4" name="Rectangle 3"/>
          <p:cNvSpPr/>
          <p:nvPr/>
        </p:nvSpPr>
        <p:spPr>
          <a:xfrm>
            <a:off x="387685" y="1318920"/>
            <a:ext cx="11538151" cy="3877985"/>
          </a:xfrm>
          <a:prstGeom prst="rect">
            <a:avLst/>
          </a:prstGeom>
        </p:spPr>
        <p:txBody>
          <a:bodyPr wrap="square">
            <a:spAutoFit/>
          </a:bodyPr>
          <a:lstStyle/>
          <a:p>
            <a:r>
              <a:rPr lang="en-US" sz="1900" b="1" dirty="0"/>
              <a:t>Objectives of the </a:t>
            </a:r>
            <a:r>
              <a:rPr lang="en-US" sz="1900" b="1" dirty="0" smtClean="0"/>
              <a:t>Study:</a:t>
            </a:r>
          </a:p>
          <a:p>
            <a:endParaRPr lang="en-US" sz="1900" b="1" dirty="0"/>
          </a:p>
          <a:p>
            <a:pPr marL="285750" indent="-285750">
              <a:lnSpc>
                <a:spcPct val="150000"/>
              </a:lnSpc>
              <a:buFont typeface="Arial" panose="020B0604020202020204" pitchFamily="34" charset="0"/>
              <a:buChar char="•"/>
            </a:pPr>
            <a:r>
              <a:rPr lang="en-US" sz="1900" dirty="0"/>
              <a:t>To analyze the usage patterns of Generative AI among students, including usage time, tools used, and level of dependency. </a:t>
            </a:r>
          </a:p>
          <a:p>
            <a:pPr marL="285750" indent="-285750">
              <a:lnSpc>
                <a:spcPct val="150000"/>
              </a:lnSpc>
              <a:buFont typeface="Arial" panose="020B0604020202020204" pitchFamily="34" charset="0"/>
              <a:buChar char="•"/>
            </a:pPr>
            <a:r>
              <a:rPr lang="en-US" sz="1900" dirty="0"/>
              <a:t>To examine the impact of Generative AI usage on students' academic performance and GPA. </a:t>
            </a:r>
          </a:p>
          <a:p>
            <a:pPr marL="285750" indent="-285750">
              <a:lnSpc>
                <a:spcPct val="150000"/>
              </a:lnSpc>
              <a:buFont typeface="Arial" panose="020B0604020202020204" pitchFamily="34" charset="0"/>
              <a:buChar char="•"/>
            </a:pPr>
            <a:r>
              <a:rPr lang="en-US" sz="1900" dirty="0"/>
              <a:t>To study how Generative AI influences students' study habits and learning behavior. </a:t>
            </a:r>
          </a:p>
          <a:p>
            <a:pPr marL="285750" indent="-285750">
              <a:lnSpc>
                <a:spcPct val="150000"/>
              </a:lnSpc>
              <a:buFont typeface="Arial" panose="020B0604020202020204" pitchFamily="34" charset="0"/>
              <a:buChar char="•"/>
            </a:pPr>
            <a:r>
              <a:rPr lang="en-US" sz="1900" dirty="0"/>
              <a:t>To evaluate the effect of AI usage on skill retention and understanding of concepts. </a:t>
            </a:r>
          </a:p>
          <a:p>
            <a:pPr marL="285750" indent="-285750">
              <a:lnSpc>
                <a:spcPct val="150000"/>
              </a:lnSpc>
              <a:buFont typeface="Arial" panose="020B0604020202020204" pitchFamily="34" charset="0"/>
              <a:buChar char="•"/>
            </a:pPr>
            <a:r>
              <a:rPr lang="en-US" sz="1900" dirty="0"/>
              <a:t>To assess the relationship between Generative AI usage and student burnout levels.</a:t>
            </a:r>
          </a:p>
          <a:p>
            <a:endParaRPr lang="en-US" sz="1900" dirty="0" smtClean="0">
              <a:solidFill>
                <a:srgbClr val="1B1B2F"/>
              </a:solidFill>
              <a:latin typeface="Calibri" pitchFamily="34" charset="0"/>
              <a:cs typeface="Calibri" pitchFamily="34" charset="-120"/>
            </a:endParaRPr>
          </a:p>
          <a:p>
            <a:endParaRPr lang="en-US" dirty="0"/>
          </a:p>
        </p:txBody>
      </p:sp>
      <p:sp>
        <p:nvSpPr>
          <p:cNvPr id="14" name="Text 4"/>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5" name="Text 5"/>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a:solidFill>
                  <a:srgbClr val="5B5470"/>
                </a:solidFill>
                <a:latin typeface="Calibri" pitchFamily="34" charset="0"/>
                <a:ea typeface="Calibri" pitchFamily="34" charset="-122"/>
                <a:cs typeface="Calibri" pitchFamily="34" charset="-120"/>
              </a:rPr>
              <a:t>5</a:t>
            </a:r>
            <a:endParaRPr lang="en-US" sz="900"/>
          </a:p>
        </p:txBody>
      </p:sp>
    </p:spTree>
    <p:extLst>
      <p:ext uri="{BB962C8B-B14F-4D97-AF65-F5344CB8AC3E}">
        <p14:creationId xmlns:p14="http://schemas.microsoft.com/office/powerpoint/2010/main" val="17931534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WHY THIS PROJECT</a:t>
            </a:r>
            <a:endParaRPr lang="en-US" sz="1900"/>
          </a:p>
        </p:txBody>
      </p:sp>
      <p:sp>
        <p:nvSpPr>
          <p:cNvPr id="4" name="Text 2"/>
          <p:cNvSpPr/>
          <p:nvPr/>
        </p:nvSpPr>
        <p:spPr>
          <a:xfrm>
            <a:off x="457200" y="777240"/>
            <a:ext cx="11274552" cy="640080"/>
          </a:xfrm>
          <a:prstGeom prst="rect">
            <a:avLst/>
          </a:prstGeom>
          <a:noFill/>
          <a:ln/>
        </p:spPr>
        <p:txBody>
          <a:bodyPr wrap="square" lIns="0" tIns="0" rIns="0" bIns="0" rtlCol="0" anchor="ctr"/>
          <a:lstStyle/>
          <a:p>
            <a:pPr marL="0" indent="0">
              <a:buNone/>
            </a:pPr>
            <a:r>
              <a:rPr lang="en-US" sz="3000" b="1">
                <a:solidFill>
                  <a:srgbClr val="1B1B2F"/>
                </a:solidFill>
                <a:latin typeface="Cambria" pitchFamily="34" charset="0"/>
                <a:ea typeface="Cambria" pitchFamily="34" charset="-122"/>
                <a:cs typeface="Cambria" pitchFamily="34" charset="-120"/>
              </a:rPr>
              <a:t>Why This Project &amp; Dataset?</a:t>
            </a:r>
            <a:endParaRPr lang="en-US" sz="3000"/>
          </a:p>
        </p:txBody>
      </p:sp>
      <p:sp>
        <p:nvSpPr>
          <p:cNvPr id="5" name="Text 3"/>
          <p:cNvSpPr/>
          <p:nvPr/>
        </p:nvSpPr>
        <p:spPr>
          <a:xfrm>
            <a:off x="548640" y="1828800"/>
            <a:ext cx="10789920" cy="4114800"/>
          </a:xfrm>
          <a:prstGeom prst="rect">
            <a:avLst/>
          </a:prstGeom>
          <a:noFill/>
          <a:ln/>
        </p:spPr>
        <p:txBody>
          <a:bodyPr wrap="square" lIns="0" tIns="0" rIns="0" bIns="0" rtlCol="0" anchor="t"/>
          <a:lstStyle/>
          <a:p>
            <a:pPr marL="228600" indent="-228600">
              <a:spcAft>
                <a:spcPts val="1000"/>
              </a:spcAft>
              <a:buSzPct val="100000"/>
              <a:buChar char="●"/>
            </a:pPr>
            <a:r>
              <a:rPr lang="en-US" sz="1900">
                <a:solidFill>
                  <a:srgbClr val="1B1B2F"/>
                </a:solidFill>
                <a:latin typeface="Calibri" pitchFamily="34" charset="0"/>
                <a:ea typeface="Calibri" pitchFamily="34" charset="-122"/>
                <a:cs typeface="Calibri" pitchFamily="34" charset="-120"/>
              </a:rPr>
              <a:t>Generative AI tools (ChatGPT, Copilot, Gemini, etc.) have become part of everyday student life — this is a highly relevant, real-world topic.</a:t>
            </a:r>
            <a:endParaRPr lang="en-US" sz="1900"/>
          </a:p>
          <a:p>
            <a:pPr marL="228600" indent="-228600">
              <a:spcAft>
                <a:spcPts val="1000"/>
              </a:spcAft>
              <a:buSzPct val="100000"/>
              <a:buChar char="●"/>
            </a:pPr>
            <a:r>
              <a:rPr lang="en-US" sz="1900">
                <a:solidFill>
                  <a:srgbClr val="1B1B2F"/>
                </a:solidFill>
                <a:latin typeface="Calibri" pitchFamily="34" charset="0"/>
                <a:ea typeface="Calibri" pitchFamily="34" charset="-122"/>
                <a:cs typeface="Calibri" pitchFamily="34" charset="-120"/>
              </a:rPr>
              <a:t>As a learner myself, I wanted to explore whether AI usage truly improves or harms academic outcomes — an area with mixed opinions and limited concrete data.</a:t>
            </a:r>
            <a:endParaRPr lang="en-US" sz="1900"/>
          </a:p>
          <a:p>
            <a:pPr marL="228600" indent="-228600">
              <a:spcAft>
                <a:spcPts val="1000"/>
              </a:spcAft>
              <a:buSzPct val="100000"/>
              <a:buChar char="●"/>
            </a:pPr>
            <a:r>
              <a:rPr lang="en-US" sz="1900">
                <a:solidFill>
                  <a:srgbClr val="1B1B2F"/>
                </a:solidFill>
                <a:latin typeface="Calibri" pitchFamily="34" charset="0"/>
                <a:ea typeface="Calibri" pitchFamily="34" charset="-122"/>
                <a:cs typeface="Calibri" pitchFamily="34" charset="-120"/>
              </a:rPr>
              <a:t>The dataset combines behavioural data (hours, tool diversity, dependency) with academic outcomes (GPA, retention, burnout) — ideal for rich univariate, bivariate, and multivariate analysis.</a:t>
            </a:r>
            <a:endParaRPr lang="en-US" sz="1900"/>
          </a:p>
          <a:p>
            <a:pPr marL="228600" indent="-228600">
              <a:spcAft>
                <a:spcPts val="1000"/>
              </a:spcAft>
              <a:buSzPct val="100000"/>
              <a:buChar char="●"/>
            </a:pPr>
            <a:r>
              <a:rPr lang="en-US" sz="1900">
                <a:solidFill>
                  <a:srgbClr val="1B1B2F"/>
                </a:solidFill>
                <a:latin typeface="Calibri" pitchFamily="34" charset="0"/>
                <a:ea typeface="Calibri" pitchFamily="34" charset="-122"/>
                <a:cs typeface="Calibri" pitchFamily="34" charset="-120"/>
              </a:rPr>
              <a:t>Relevant to my interest in Data Science / EdTech analytics, where understanding human behaviour around technology adoption is a growing field.</a:t>
            </a:r>
            <a:endParaRPr lang="en-US" sz="1900"/>
          </a:p>
        </p:txBody>
      </p:sp>
      <p:sp>
        <p:nvSpPr>
          <p:cNvPr id="6" name="Text 4"/>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7" name="Text 5"/>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a:solidFill>
                  <a:srgbClr val="5B5470"/>
                </a:solidFill>
                <a:latin typeface="Calibri" pitchFamily="34" charset="0"/>
                <a:cs typeface="Calibri" pitchFamily="34" charset="-120"/>
              </a:rPr>
              <a:t>6</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128326"/>
            <a:ext cx="2377440" cy="329184"/>
          </a:xfrm>
          <a:prstGeom prst="roundRect">
            <a:avLst>
              <a:gd name="adj" fmla="val 50000"/>
            </a:avLst>
          </a:prstGeom>
          <a:solidFill>
            <a:srgbClr val="EDE7F9"/>
          </a:solidFill>
          <a:ln/>
        </p:spPr>
      </p:sp>
      <p:sp>
        <p:nvSpPr>
          <p:cNvPr id="3" name="Text 1"/>
          <p:cNvSpPr/>
          <p:nvPr/>
        </p:nvSpPr>
        <p:spPr>
          <a:xfrm>
            <a:off x="457200" y="154627"/>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DATASET</a:t>
            </a:r>
            <a:endParaRPr lang="en-US" sz="1900"/>
          </a:p>
        </p:txBody>
      </p:sp>
      <p:sp>
        <p:nvSpPr>
          <p:cNvPr id="4" name="Text 2"/>
          <p:cNvSpPr/>
          <p:nvPr/>
        </p:nvSpPr>
        <p:spPr>
          <a:xfrm>
            <a:off x="457200" y="481796"/>
            <a:ext cx="11274552" cy="640080"/>
          </a:xfrm>
          <a:prstGeom prst="rect">
            <a:avLst/>
          </a:prstGeom>
          <a:noFill/>
          <a:ln/>
        </p:spPr>
        <p:txBody>
          <a:bodyPr wrap="square" lIns="0" tIns="0" rIns="0" bIns="0" rtlCol="0" anchor="ctr"/>
          <a:lstStyle/>
          <a:p>
            <a:pPr marL="0" indent="0">
              <a:buNone/>
            </a:pPr>
            <a:r>
              <a:rPr lang="en-US" sz="3000" b="1">
                <a:solidFill>
                  <a:srgbClr val="1B1B2F"/>
                </a:solidFill>
                <a:latin typeface="Cambria" pitchFamily="34" charset="0"/>
                <a:ea typeface="Cambria" pitchFamily="34" charset="-122"/>
                <a:cs typeface="Cambria" pitchFamily="34" charset="-120"/>
              </a:rPr>
              <a:t>Dataset </a:t>
            </a:r>
            <a:r>
              <a:rPr lang="en-US" sz="3000" b="1" smtClean="0">
                <a:solidFill>
                  <a:srgbClr val="1B1B2F"/>
                </a:solidFill>
                <a:latin typeface="Cambria" pitchFamily="34" charset="0"/>
                <a:ea typeface="Cambria" pitchFamily="34" charset="-122"/>
                <a:cs typeface="Cambria" pitchFamily="34" charset="-120"/>
              </a:rPr>
              <a:t>Information: </a:t>
            </a:r>
            <a:r>
              <a:rPr lang="en-US" sz="3000" b="1" err="1" smtClean="0">
                <a:solidFill>
                  <a:srgbClr val="1B1B2F"/>
                </a:solidFill>
                <a:latin typeface="Cambria" pitchFamily="34" charset="0"/>
                <a:ea typeface="Cambria" pitchFamily="34" charset="-122"/>
                <a:cs typeface="Cambria" pitchFamily="34" charset="-120"/>
              </a:rPr>
              <a:t>Uncleaned</a:t>
            </a:r>
            <a:r>
              <a:rPr lang="en-US" sz="3000" b="1" smtClean="0">
                <a:solidFill>
                  <a:srgbClr val="1B1B2F"/>
                </a:solidFill>
                <a:latin typeface="Cambria" pitchFamily="34" charset="0"/>
                <a:ea typeface="Cambria" pitchFamily="34" charset="-122"/>
                <a:cs typeface="Cambria" pitchFamily="34" charset="-120"/>
              </a:rPr>
              <a:t> Data</a:t>
            </a:r>
            <a:endParaRPr lang="en-US" sz="3000"/>
          </a:p>
        </p:txBody>
      </p:sp>
      <p:sp>
        <p:nvSpPr>
          <p:cNvPr id="6" name="Text 4"/>
          <p:cNvSpPr/>
          <p:nvPr/>
        </p:nvSpPr>
        <p:spPr>
          <a:xfrm>
            <a:off x="822960" y="2011680"/>
            <a:ext cx="4937760" cy="457200"/>
          </a:xfrm>
          <a:prstGeom prst="rect">
            <a:avLst/>
          </a:prstGeom>
          <a:noFill/>
          <a:ln/>
        </p:spPr>
        <p:txBody>
          <a:bodyPr wrap="square" lIns="0" tIns="0" rIns="0" bIns="0" rtlCol="0" anchor="ctr"/>
          <a:lstStyle/>
          <a:p>
            <a:pPr marL="0" indent="0">
              <a:buNone/>
            </a:pPr>
            <a:endParaRPr lang="en-US" sz="2000"/>
          </a:p>
        </p:txBody>
      </p:sp>
      <p:sp>
        <p:nvSpPr>
          <p:cNvPr id="7" name="Text 5"/>
          <p:cNvSpPr/>
          <p:nvPr/>
        </p:nvSpPr>
        <p:spPr>
          <a:xfrm>
            <a:off x="822960" y="1982249"/>
            <a:ext cx="4937760" cy="3247917"/>
          </a:xfrm>
          <a:prstGeom prst="rect">
            <a:avLst/>
          </a:prstGeom>
          <a:noFill/>
          <a:ln/>
        </p:spPr>
        <p:txBody>
          <a:bodyPr wrap="square" lIns="0" tIns="0" rIns="0" bIns="0" rtlCol="0" anchor="t"/>
          <a:lstStyle/>
          <a:p>
            <a:pPr>
              <a:spcAft>
                <a:spcPts val="1000"/>
              </a:spcAft>
              <a:buSzPct val="100000"/>
            </a:pPr>
            <a:endParaRPr lang="en-US" sz="1900"/>
          </a:p>
        </p:txBody>
      </p:sp>
      <p:sp>
        <p:nvSpPr>
          <p:cNvPr id="8" name="Shape 6"/>
          <p:cNvSpPr/>
          <p:nvPr/>
        </p:nvSpPr>
        <p:spPr>
          <a:xfrm>
            <a:off x="9651427" y="225325"/>
            <a:ext cx="2468880" cy="1072060"/>
          </a:xfrm>
          <a:prstGeom prst="roundRect">
            <a:avLst>
              <a:gd name="adj" fmla="val 5161"/>
            </a:avLst>
          </a:prstGeom>
          <a:solidFill>
            <a:srgbClr val="F7F5FC"/>
          </a:solidFill>
          <a:ln/>
          <a:effectLst>
            <a:outerShdw blurRad="101600" dist="38100" dir="2700000" algn="bl" rotWithShape="0">
              <a:srgbClr val="1B1B2F">
                <a:alpha val="12000"/>
              </a:srgbClr>
            </a:outerShdw>
          </a:effectLst>
        </p:spPr>
      </p:sp>
      <p:sp>
        <p:nvSpPr>
          <p:cNvPr id="9" name="Text 7"/>
          <p:cNvSpPr/>
          <p:nvPr/>
        </p:nvSpPr>
        <p:spPr>
          <a:xfrm>
            <a:off x="9664950" y="161276"/>
            <a:ext cx="2468880" cy="914400"/>
          </a:xfrm>
          <a:prstGeom prst="rect">
            <a:avLst/>
          </a:prstGeom>
          <a:noFill/>
          <a:ln/>
        </p:spPr>
        <p:txBody>
          <a:bodyPr wrap="square" lIns="0" tIns="0" rIns="0" bIns="0" rtlCol="0" anchor="ctr"/>
          <a:lstStyle/>
          <a:p>
            <a:pPr marL="0" indent="0" algn="ctr">
              <a:buNone/>
            </a:pPr>
            <a:r>
              <a:rPr lang="en-US" sz="3000" b="1" smtClean="0">
                <a:solidFill>
                  <a:srgbClr val="2E1F66"/>
                </a:solidFill>
                <a:latin typeface="Cambria" pitchFamily="34" charset="0"/>
                <a:ea typeface="Cambria" pitchFamily="34" charset="-122"/>
                <a:cs typeface="Cambria" pitchFamily="34" charset="-120"/>
              </a:rPr>
              <a:t>30,900</a:t>
            </a:r>
            <a:endParaRPr lang="en-US" sz="3000"/>
          </a:p>
        </p:txBody>
      </p:sp>
      <p:sp>
        <p:nvSpPr>
          <p:cNvPr id="10" name="Text 8"/>
          <p:cNvSpPr/>
          <p:nvPr/>
        </p:nvSpPr>
        <p:spPr>
          <a:xfrm>
            <a:off x="9802110" y="940255"/>
            <a:ext cx="2286000" cy="384048"/>
          </a:xfrm>
          <a:prstGeom prst="rect">
            <a:avLst/>
          </a:prstGeom>
          <a:noFill/>
          <a:ln/>
        </p:spPr>
        <p:txBody>
          <a:bodyPr wrap="square" lIns="0" tIns="0" rIns="0" bIns="0" rtlCol="0" anchor="t"/>
          <a:lstStyle/>
          <a:p>
            <a:pPr marL="0" indent="0" algn="ctr">
              <a:buNone/>
            </a:pPr>
            <a:r>
              <a:rPr lang="en-US" sz="1500" smtClean="0">
                <a:solidFill>
                  <a:srgbClr val="5B5470"/>
                </a:solidFill>
                <a:latin typeface="Calibri" pitchFamily="34" charset="0"/>
                <a:ea typeface="Calibri" pitchFamily="34" charset="-122"/>
                <a:cs typeface="Calibri" pitchFamily="34" charset="-120"/>
              </a:rPr>
              <a:t>Total Rows (Students)</a:t>
            </a:r>
            <a:endParaRPr lang="en-US" sz="1500"/>
          </a:p>
        </p:txBody>
      </p:sp>
      <p:sp>
        <p:nvSpPr>
          <p:cNvPr id="11" name="Shape 9"/>
          <p:cNvSpPr/>
          <p:nvPr/>
        </p:nvSpPr>
        <p:spPr>
          <a:xfrm>
            <a:off x="9662761" y="1416702"/>
            <a:ext cx="2468880" cy="1028656"/>
          </a:xfrm>
          <a:prstGeom prst="roundRect">
            <a:avLst>
              <a:gd name="adj" fmla="val 5161"/>
            </a:avLst>
          </a:prstGeom>
          <a:solidFill>
            <a:srgbClr val="F7F5FC"/>
          </a:solidFill>
          <a:ln/>
          <a:effectLst>
            <a:outerShdw blurRad="101600" dist="38100" dir="2700000" algn="bl" rotWithShape="0">
              <a:srgbClr val="1B1B2F">
                <a:alpha val="12000"/>
              </a:srgbClr>
            </a:outerShdw>
          </a:effectLst>
        </p:spPr>
      </p:sp>
      <p:sp>
        <p:nvSpPr>
          <p:cNvPr id="12" name="Text 10"/>
          <p:cNvSpPr/>
          <p:nvPr/>
        </p:nvSpPr>
        <p:spPr>
          <a:xfrm>
            <a:off x="9637904" y="1291087"/>
            <a:ext cx="2468880" cy="914400"/>
          </a:xfrm>
          <a:prstGeom prst="rect">
            <a:avLst/>
          </a:prstGeom>
          <a:noFill/>
          <a:ln/>
        </p:spPr>
        <p:txBody>
          <a:bodyPr wrap="square" lIns="0" tIns="0" rIns="0" bIns="0" rtlCol="0" anchor="ctr"/>
          <a:lstStyle/>
          <a:p>
            <a:pPr marL="0" indent="0" algn="ctr">
              <a:buNone/>
            </a:pPr>
            <a:r>
              <a:rPr lang="en-US" sz="3000" b="1">
                <a:solidFill>
                  <a:srgbClr val="6C4AB6"/>
                </a:solidFill>
                <a:latin typeface="Cambria" pitchFamily="34" charset="0"/>
                <a:ea typeface="Cambria" pitchFamily="34" charset="-122"/>
                <a:cs typeface="Cambria" pitchFamily="34" charset="-120"/>
              </a:rPr>
              <a:t>16</a:t>
            </a:r>
            <a:endParaRPr lang="en-US" sz="3000"/>
          </a:p>
        </p:txBody>
      </p:sp>
      <p:sp>
        <p:nvSpPr>
          <p:cNvPr id="13" name="Text 11"/>
          <p:cNvSpPr/>
          <p:nvPr/>
        </p:nvSpPr>
        <p:spPr>
          <a:xfrm>
            <a:off x="9806617" y="2037315"/>
            <a:ext cx="2286000" cy="384048"/>
          </a:xfrm>
          <a:prstGeom prst="rect">
            <a:avLst/>
          </a:prstGeom>
          <a:noFill/>
          <a:ln/>
        </p:spPr>
        <p:txBody>
          <a:bodyPr wrap="square" lIns="0" tIns="0" rIns="0" bIns="0" rtlCol="0" anchor="t"/>
          <a:lstStyle/>
          <a:p>
            <a:pPr marL="0" indent="0" algn="ctr">
              <a:buNone/>
            </a:pPr>
            <a:r>
              <a:rPr lang="en-US" sz="1500">
                <a:solidFill>
                  <a:srgbClr val="5B5470"/>
                </a:solidFill>
                <a:latin typeface="Calibri" pitchFamily="34" charset="0"/>
                <a:ea typeface="Calibri" pitchFamily="34" charset="-122"/>
                <a:cs typeface="Calibri" pitchFamily="34" charset="-120"/>
              </a:rPr>
              <a:t>Total Columns</a:t>
            </a:r>
            <a:endParaRPr lang="en-US" sz="1500"/>
          </a:p>
        </p:txBody>
      </p:sp>
      <p:sp>
        <p:nvSpPr>
          <p:cNvPr id="14" name="Shape 12"/>
          <p:cNvSpPr/>
          <p:nvPr/>
        </p:nvSpPr>
        <p:spPr>
          <a:xfrm>
            <a:off x="9677700" y="3732306"/>
            <a:ext cx="2468880" cy="1148787"/>
          </a:xfrm>
          <a:prstGeom prst="roundRect">
            <a:avLst>
              <a:gd name="adj" fmla="val 5161"/>
            </a:avLst>
          </a:prstGeom>
          <a:solidFill>
            <a:srgbClr val="F7F5FC"/>
          </a:solidFill>
          <a:ln/>
          <a:effectLst>
            <a:outerShdw blurRad="101600" dist="38100" dir="2700000" algn="bl" rotWithShape="0">
              <a:srgbClr val="1B1B2F">
                <a:alpha val="12000"/>
              </a:srgbClr>
            </a:outerShdw>
          </a:effectLst>
        </p:spPr>
      </p:sp>
      <p:sp>
        <p:nvSpPr>
          <p:cNvPr id="15" name="Text 13"/>
          <p:cNvSpPr/>
          <p:nvPr/>
        </p:nvSpPr>
        <p:spPr>
          <a:xfrm>
            <a:off x="9637904" y="3794760"/>
            <a:ext cx="2468880" cy="914400"/>
          </a:xfrm>
          <a:prstGeom prst="rect">
            <a:avLst/>
          </a:prstGeom>
          <a:noFill/>
          <a:ln/>
        </p:spPr>
        <p:txBody>
          <a:bodyPr wrap="square" lIns="0" tIns="0" rIns="0" bIns="0" rtlCol="0" anchor="ctr"/>
          <a:lstStyle/>
          <a:p>
            <a:pPr marL="0" indent="0" algn="ctr">
              <a:buNone/>
            </a:pPr>
            <a:r>
              <a:rPr lang="en-US" sz="3000" b="1">
                <a:solidFill>
                  <a:srgbClr val="C97F1E"/>
                </a:solidFill>
                <a:latin typeface="Cambria" pitchFamily="34" charset="0"/>
                <a:ea typeface="Cambria" pitchFamily="34" charset="-122"/>
                <a:cs typeface="Cambria" pitchFamily="34" charset="-120"/>
              </a:rPr>
              <a:t>9</a:t>
            </a:r>
            <a:endParaRPr lang="en-US" sz="3000"/>
          </a:p>
        </p:txBody>
      </p:sp>
      <p:sp>
        <p:nvSpPr>
          <p:cNvPr id="16" name="Text 14"/>
          <p:cNvSpPr/>
          <p:nvPr/>
        </p:nvSpPr>
        <p:spPr>
          <a:xfrm>
            <a:off x="9729344" y="4535321"/>
            <a:ext cx="2286000" cy="384048"/>
          </a:xfrm>
          <a:prstGeom prst="rect">
            <a:avLst/>
          </a:prstGeom>
          <a:noFill/>
          <a:ln/>
        </p:spPr>
        <p:txBody>
          <a:bodyPr wrap="square" lIns="0" tIns="0" rIns="0" bIns="0" rtlCol="0" anchor="t"/>
          <a:lstStyle/>
          <a:p>
            <a:pPr marL="0" indent="0" algn="ctr">
              <a:buNone/>
            </a:pPr>
            <a:r>
              <a:rPr lang="en-US" sz="1500">
                <a:solidFill>
                  <a:srgbClr val="5B5470"/>
                </a:solidFill>
                <a:latin typeface="Calibri" pitchFamily="34" charset="0"/>
                <a:ea typeface="Calibri" pitchFamily="34" charset="-122"/>
                <a:cs typeface="Calibri" pitchFamily="34" charset="-120"/>
              </a:rPr>
              <a:t>Categorical Columns</a:t>
            </a:r>
            <a:endParaRPr lang="en-US" sz="1500"/>
          </a:p>
        </p:txBody>
      </p:sp>
      <p:sp>
        <p:nvSpPr>
          <p:cNvPr id="17" name="Shape 15"/>
          <p:cNvSpPr/>
          <p:nvPr/>
        </p:nvSpPr>
        <p:spPr>
          <a:xfrm>
            <a:off x="9662761" y="2555608"/>
            <a:ext cx="2468880" cy="1035628"/>
          </a:xfrm>
          <a:prstGeom prst="roundRect">
            <a:avLst>
              <a:gd name="adj" fmla="val 5161"/>
            </a:avLst>
          </a:prstGeom>
          <a:solidFill>
            <a:srgbClr val="F7F5FC"/>
          </a:solidFill>
          <a:ln/>
          <a:effectLst>
            <a:outerShdw blurRad="101600" dist="38100" dir="2700000" algn="bl" rotWithShape="0">
              <a:srgbClr val="1B1B2F">
                <a:alpha val="12000"/>
              </a:srgbClr>
            </a:outerShdw>
          </a:effectLst>
        </p:spPr>
      </p:sp>
      <p:sp>
        <p:nvSpPr>
          <p:cNvPr id="18" name="Text 16"/>
          <p:cNvSpPr/>
          <p:nvPr/>
        </p:nvSpPr>
        <p:spPr>
          <a:xfrm>
            <a:off x="9623737" y="2448207"/>
            <a:ext cx="2468880" cy="914400"/>
          </a:xfrm>
          <a:prstGeom prst="rect">
            <a:avLst/>
          </a:prstGeom>
          <a:noFill/>
          <a:ln/>
        </p:spPr>
        <p:txBody>
          <a:bodyPr wrap="square" lIns="0" tIns="0" rIns="0" bIns="0" rtlCol="0" anchor="ctr"/>
          <a:lstStyle/>
          <a:p>
            <a:pPr marL="0" indent="0" algn="ctr">
              <a:buNone/>
            </a:pPr>
            <a:r>
              <a:rPr lang="en-US" sz="3000" b="1">
                <a:solidFill>
                  <a:srgbClr val="2E1F66"/>
                </a:solidFill>
                <a:latin typeface="Cambria" pitchFamily="34" charset="0"/>
                <a:ea typeface="Cambria" pitchFamily="34" charset="-122"/>
                <a:cs typeface="Cambria" pitchFamily="34" charset="-120"/>
              </a:rPr>
              <a:t>7</a:t>
            </a:r>
            <a:endParaRPr lang="en-US" sz="3000"/>
          </a:p>
        </p:txBody>
      </p:sp>
      <p:sp>
        <p:nvSpPr>
          <p:cNvPr id="19" name="Text 17"/>
          <p:cNvSpPr/>
          <p:nvPr/>
        </p:nvSpPr>
        <p:spPr>
          <a:xfrm>
            <a:off x="9769140" y="3187867"/>
            <a:ext cx="2286000" cy="384048"/>
          </a:xfrm>
          <a:prstGeom prst="rect">
            <a:avLst/>
          </a:prstGeom>
          <a:noFill/>
          <a:ln/>
        </p:spPr>
        <p:txBody>
          <a:bodyPr wrap="square" lIns="0" tIns="0" rIns="0" bIns="0" rtlCol="0" anchor="t"/>
          <a:lstStyle/>
          <a:p>
            <a:pPr marL="0" indent="0" algn="ctr">
              <a:buNone/>
            </a:pPr>
            <a:r>
              <a:rPr lang="en-US" sz="1500">
                <a:solidFill>
                  <a:srgbClr val="5B5470"/>
                </a:solidFill>
                <a:latin typeface="Calibri" pitchFamily="34" charset="0"/>
                <a:ea typeface="Calibri" pitchFamily="34" charset="-122"/>
                <a:cs typeface="Calibri" pitchFamily="34" charset="-120"/>
              </a:rPr>
              <a:t>Numerical</a:t>
            </a:r>
            <a:r>
              <a:rPr lang="en-US" sz="1100">
                <a:solidFill>
                  <a:srgbClr val="5B5470"/>
                </a:solidFill>
                <a:latin typeface="Calibri" pitchFamily="34" charset="0"/>
                <a:ea typeface="Calibri" pitchFamily="34" charset="-122"/>
                <a:cs typeface="Calibri" pitchFamily="34" charset="-120"/>
              </a:rPr>
              <a:t> </a:t>
            </a:r>
            <a:r>
              <a:rPr lang="en-US" sz="1500">
                <a:solidFill>
                  <a:srgbClr val="5B5470"/>
                </a:solidFill>
                <a:latin typeface="Calibri" pitchFamily="34" charset="0"/>
                <a:ea typeface="Calibri" pitchFamily="34" charset="-122"/>
                <a:cs typeface="Calibri" pitchFamily="34" charset="-120"/>
              </a:rPr>
              <a:t>Columns</a:t>
            </a:r>
            <a:endParaRPr lang="en-US" sz="1500"/>
          </a:p>
        </p:txBody>
      </p:sp>
      <p:sp>
        <p:nvSpPr>
          <p:cNvPr id="23" name="Text 21"/>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24" name="Text 22"/>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a:solidFill>
                  <a:srgbClr val="5B5470"/>
                </a:solidFill>
                <a:latin typeface="Calibri" pitchFamily="34" charset="0"/>
                <a:cs typeface="Calibri" pitchFamily="34" charset="-120"/>
              </a:rPr>
              <a:t>7</a:t>
            </a:r>
            <a:endParaRPr lang="en-US" sz="900"/>
          </a:p>
        </p:txBody>
      </p:sp>
      <p:pic>
        <p:nvPicPr>
          <p:cNvPr id="25" name="Picture 2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044" y="1176091"/>
            <a:ext cx="9049942" cy="3610499"/>
          </a:xfrm>
          <a:prstGeom prst="rect">
            <a:avLst/>
          </a:prstGeom>
        </p:spPr>
      </p:pic>
      <p:sp>
        <p:nvSpPr>
          <p:cNvPr id="27" name="Rectangle 26"/>
          <p:cNvSpPr/>
          <p:nvPr/>
        </p:nvSpPr>
        <p:spPr>
          <a:xfrm>
            <a:off x="193526" y="4899527"/>
            <a:ext cx="11500148" cy="1456809"/>
          </a:xfrm>
          <a:prstGeom prst="rect">
            <a:avLst/>
          </a:prstGeom>
        </p:spPr>
        <p:txBody>
          <a:bodyPr wrap="square">
            <a:spAutoFit/>
          </a:bodyPr>
          <a:lstStyle/>
          <a:p>
            <a:pPr marL="228600" indent="-228600">
              <a:spcAft>
                <a:spcPts val="1000"/>
              </a:spcAft>
              <a:buSzPct val="100000"/>
              <a:buChar char="●"/>
            </a:pPr>
            <a:r>
              <a:rPr lang="en-US" smtClean="0">
                <a:solidFill>
                  <a:srgbClr val="1B1B2F"/>
                </a:solidFill>
                <a:latin typeface="Calibri" pitchFamily="34" charset="0"/>
                <a:ea typeface="Calibri" pitchFamily="34" charset="-122"/>
                <a:cs typeface="Calibri" pitchFamily="34" charset="-120"/>
              </a:rPr>
              <a:t>Captures </a:t>
            </a:r>
            <a:r>
              <a:rPr lang="en-US">
                <a:solidFill>
                  <a:srgbClr val="1B1B2F"/>
                </a:solidFill>
                <a:latin typeface="Calibri" pitchFamily="34" charset="0"/>
                <a:ea typeface="Calibri" pitchFamily="34" charset="-122"/>
                <a:cs typeface="Calibri" pitchFamily="34" charset="-120"/>
              </a:rPr>
              <a:t>how students use Generative AI tools alongside their academic performance and wellbeing.</a:t>
            </a:r>
            <a:endParaRPr lang="en-US"/>
          </a:p>
          <a:p>
            <a:pPr marL="228600" indent="-228600">
              <a:spcAft>
                <a:spcPts val="1000"/>
              </a:spcAft>
              <a:buSzPct val="100000"/>
              <a:buChar char="●"/>
            </a:pPr>
            <a:r>
              <a:rPr lang="en-US">
                <a:solidFill>
                  <a:srgbClr val="1B1B2F"/>
                </a:solidFill>
                <a:latin typeface="Calibri" pitchFamily="34" charset="0"/>
                <a:ea typeface="Calibri" pitchFamily="34" charset="-122"/>
                <a:cs typeface="Calibri" pitchFamily="34" charset="-120"/>
              </a:rPr>
              <a:t>Includes </a:t>
            </a:r>
            <a:r>
              <a:rPr lang="en-US" err="1">
                <a:solidFill>
                  <a:srgbClr val="1B1B2F"/>
                </a:solidFill>
                <a:latin typeface="Calibri" pitchFamily="34" charset="0"/>
                <a:ea typeface="Calibri" pitchFamily="34" charset="-122"/>
                <a:cs typeface="Calibri" pitchFamily="34" charset="-120"/>
              </a:rPr>
              <a:t>behavioural</a:t>
            </a:r>
            <a:r>
              <a:rPr lang="en-US">
                <a:solidFill>
                  <a:srgbClr val="1B1B2F"/>
                </a:solidFill>
                <a:latin typeface="Calibri" pitchFamily="34" charset="0"/>
                <a:ea typeface="Calibri" pitchFamily="34" charset="-122"/>
                <a:cs typeface="Calibri" pitchFamily="34" charset="-120"/>
              </a:rPr>
              <a:t> fields (weekly </a:t>
            </a:r>
            <a:r>
              <a:rPr lang="en-US" err="1">
                <a:solidFill>
                  <a:srgbClr val="1B1B2F"/>
                </a:solidFill>
                <a:latin typeface="Calibri" pitchFamily="34" charset="0"/>
                <a:ea typeface="Calibri" pitchFamily="34" charset="-122"/>
                <a:cs typeface="Calibri" pitchFamily="34" charset="-120"/>
              </a:rPr>
              <a:t>GenAI</a:t>
            </a:r>
            <a:r>
              <a:rPr lang="en-US">
                <a:solidFill>
                  <a:srgbClr val="1B1B2F"/>
                </a:solidFill>
                <a:latin typeface="Calibri" pitchFamily="34" charset="0"/>
                <a:ea typeface="Calibri" pitchFamily="34" charset="-122"/>
                <a:cs typeface="Calibri" pitchFamily="34" charset="-120"/>
              </a:rPr>
              <a:t> hours, tool diversity, dependency) and outcome fields (Pre/Post-semester GPA, skill retention, burnout, anxiety).</a:t>
            </a:r>
            <a:endParaRPr lang="en-US"/>
          </a:p>
          <a:p>
            <a:pPr marL="228600" indent="-228600">
              <a:spcAft>
                <a:spcPts val="1000"/>
              </a:spcAft>
              <a:buSzPct val="100000"/>
              <a:buChar char="●"/>
            </a:pPr>
            <a:r>
              <a:rPr lang="en-US">
                <a:solidFill>
                  <a:srgbClr val="1B1B2F"/>
                </a:solidFill>
                <a:latin typeface="Calibri" pitchFamily="34" charset="0"/>
                <a:ea typeface="Calibri" pitchFamily="34" charset="-122"/>
                <a:cs typeface="Calibri" pitchFamily="34" charset="-120"/>
              </a:rPr>
              <a:t>Source: Public dataset collected for educational EDA practice (</a:t>
            </a:r>
            <a:r>
              <a:rPr lang="en-US" err="1">
                <a:solidFill>
                  <a:srgbClr val="1B1B2F"/>
                </a:solidFill>
                <a:latin typeface="Calibri" pitchFamily="34" charset="0"/>
                <a:ea typeface="Calibri" pitchFamily="34" charset="-122"/>
                <a:cs typeface="Calibri" pitchFamily="34" charset="-120"/>
              </a:rPr>
              <a:t>Kaggle</a:t>
            </a:r>
            <a:r>
              <a:rPr lang="en-US">
                <a:solidFill>
                  <a:srgbClr val="1B1B2F"/>
                </a:solidFill>
                <a:latin typeface="Calibri" pitchFamily="34" charset="0"/>
                <a:ea typeface="Calibri" pitchFamily="34" charset="-122"/>
                <a:cs typeface="Calibri" pitchFamily="34" charset="-120"/>
              </a:rPr>
              <a:t>-style structured CSV).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dirty="0" smtClean="0">
                <a:solidFill>
                  <a:srgbClr val="6C4AB6"/>
                </a:solidFill>
                <a:latin typeface="Calibri" pitchFamily="34" charset="0"/>
                <a:ea typeface="Calibri" pitchFamily="34" charset="-122"/>
                <a:cs typeface="Calibri" pitchFamily="34" charset="-120"/>
              </a:rPr>
              <a:t>OVERVIEW</a:t>
            </a:r>
            <a:endParaRPr lang="en-US" sz="1900" dirty="0"/>
          </a:p>
        </p:txBody>
      </p:sp>
      <p:sp>
        <p:nvSpPr>
          <p:cNvPr id="4" name="Text 2"/>
          <p:cNvSpPr/>
          <p:nvPr/>
        </p:nvSpPr>
        <p:spPr>
          <a:xfrm>
            <a:off x="457200" y="777240"/>
            <a:ext cx="11274552" cy="640080"/>
          </a:xfrm>
          <a:prstGeom prst="rect">
            <a:avLst/>
          </a:prstGeom>
          <a:noFill/>
          <a:ln/>
        </p:spPr>
        <p:txBody>
          <a:bodyPr wrap="square" lIns="0" tIns="0" rIns="0" bIns="0" rtlCol="0" anchor="ctr"/>
          <a:lstStyle/>
          <a:p>
            <a:pPr marL="0" indent="0">
              <a:buNone/>
            </a:pPr>
            <a:r>
              <a:rPr lang="en-US" sz="3000" b="1">
                <a:solidFill>
                  <a:srgbClr val="1B1B2F"/>
                </a:solidFill>
                <a:latin typeface="Cambria" pitchFamily="34" charset="0"/>
                <a:ea typeface="Cambria" pitchFamily="34" charset="-122"/>
                <a:cs typeface="Cambria" pitchFamily="34" charset="-120"/>
              </a:rPr>
              <a:t>Data Cleaning &amp; Preparation</a:t>
            </a:r>
            <a:endParaRPr lang="en-US" sz="3000"/>
          </a:p>
        </p:txBody>
      </p:sp>
      <p:sp>
        <p:nvSpPr>
          <p:cNvPr id="5" name="Shape 3"/>
          <p:cNvSpPr/>
          <p:nvPr/>
        </p:nvSpPr>
        <p:spPr>
          <a:xfrm>
            <a:off x="548640" y="1783080"/>
            <a:ext cx="5440680" cy="1920240"/>
          </a:xfrm>
          <a:prstGeom prst="roundRect">
            <a:avLst>
              <a:gd name="adj" fmla="val 3810"/>
            </a:avLst>
          </a:prstGeom>
          <a:solidFill>
            <a:srgbClr val="F7F5FC"/>
          </a:solidFill>
          <a:ln/>
          <a:effectLst>
            <a:outerShdw blurRad="101600" dist="38100" dir="2700000" algn="bl" rotWithShape="0">
              <a:srgbClr val="1B1B2F">
                <a:alpha val="12000"/>
              </a:srgbClr>
            </a:outerShdw>
          </a:effectLst>
        </p:spPr>
      </p:sp>
      <p:sp>
        <p:nvSpPr>
          <p:cNvPr id="6" name="Shape 4"/>
          <p:cNvSpPr/>
          <p:nvPr/>
        </p:nvSpPr>
        <p:spPr>
          <a:xfrm>
            <a:off x="777240" y="2011680"/>
            <a:ext cx="292608" cy="292608"/>
          </a:xfrm>
          <a:prstGeom prst="ellipse">
            <a:avLst/>
          </a:prstGeom>
          <a:solidFill>
            <a:srgbClr val="2E1F66"/>
          </a:solidFill>
          <a:ln/>
        </p:spPr>
      </p:sp>
      <p:sp>
        <p:nvSpPr>
          <p:cNvPr id="7" name="Text 5"/>
          <p:cNvSpPr/>
          <p:nvPr/>
        </p:nvSpPr>
        <p:spPr>
          <a:xfrm>
            <a:off x="1234440" y="1965960"/>
            <a:ext cx="4526280" cy="365760"/>
          </a:xfrm>
          <a:prstGeom prst="rect">
            <a:avLst/>
          </a:prstGeom>
          <a:noFill/>
          <a:ln/>
        </p:spPr>
        <p:txBody>
          <a:bodyPr wrap="square" lIns="0" tIns="0" rIns="0" bIns="0" rtlCol="0" anchor="ctr"/>
          <a:lstStyle/>
          <a:p>
            <a:pPr marL="0" indent="0">
              <a:buNone/>
            </a:pPr>
            <a:r>
              <a:rPr lang="en-US" sz="2000" b="1">
                <a:solidFill>
                  <a:srgbClr val="1B1B2F"/>
                </a:solidFill>
                <a:latin typeface="Calibri" pitchFamily="34" charset="0"/>
                <a:ea typeface="Calibri" pitchFamily="34" charset="-122"/>
                <a:cs typeface="Calibri" pitchFamily="34" charset="-120"/>
              </a:rPr>
              <a:t>Missing Values</a:t>
            </a:r>
            <a:endParaRPr lang="en-US" sz="2000"/>
          </a:p>
        </p:txBody>
      </p:sp>
      <p:sp>
        <p:nvSpPr>
          <p:cNvPr id="8" name="Text 6"/>
          <p:cNvSpPr/>
          <p:nvPr/>
        </p:nvSpPr>
        <p:spPr>
          <a:xfrm>
            <a:off x="822960" y="2468880"/>
            <a:ext cx="4892040" cy="1051560"/>
          </a:xfrm>
          <a:prstGeom prst="rect">
            <a:avLst/>
          </a:prstGeom>
          <a:noFill/>
          <a:ln/>
        </p:spPr>
        <p:txBody>
          <a:bodyPr wrap="square" lIns="0" tIns="0" rIns="0" bIns="0" rtlCol="0" anchor="t"/>
          <a:lstStyle/>
          <a:p>
            <a:pPr marL="0" indent="0">
              <a:buNone/>
            </a:pPr>
            <a:r>
              <a:rPr lang="en-US" sz="1700">
                <a:solidFill>
                  <a:srgbClr val="5B5470"/>
                </a:solidFill>
                <a:latin typeface="Calibri" pitchFamily="34" charset="0"/>
                <a:ea typeface="Calibri" pitchFamily="34" charset="-122"/>
                <a:cs typeface="Calibri" pitchFamily="34" charset="-120"/>
              </a:rPr>
              <a:t>Categorical columns filled with mode; numerical columns filled with median (robust to outliers).</a:t>
            </a:r>
            <a:endParaRPr lang="en-US" sz="1700"/>
          </a:p>
        </p:txBody>
      </p:sp>
      <p:sp>
        <p:nvSpPr>
          <p:cNvPr id="9" name="Shape 7"/>
          <p:cNvSpPr/>
          <p:nvPr/>
        </p:nvSpPr>
        <p:spPr>
          <a:xfrm>
            <a:off x="6263640" y="1783080"/>
            <a:ext cx="5440680" cy="1920240"/>
          </a:xfrm>
          <a:prstGeom prst="roundRect">
            <a:avLst>
              <a:gd name="adj" fmla="val 3810"/>
            </a:avLst>
          </a:prstGeom>
          <a:solidFill>
            <a:srgbClr val="F7F5FC"/>
          </a:solidFill>
          <a:ln/>
          <a:effectLst>
            <a:outerShdw blurRad="101600" dist="38100" dir="2700000" algn="bl" rotWithShape="0">
              <a:srgbClr val="1B1B2F">
                <a:alpha val="12000"/>
              </a:srgbClr>
            </a:outerShdw>
          </a:effectLst>
        </p:spPr>
      </p:sp>
      <p:sp>
        <p:nvSpPr>
          <p:cNvPr id="10" name="Shape 8"/>
          <p:cNvSpPr/>
          <p:nvPr/>
        </p:nvSpPr>
        <p:spPr>
          <a:xfrm>
            <a:off x="6492240" y="2011680"/>
            <a:ext cx="292608" cy="292608"/>
          </a:xfrm>
          <a:prstGeom prst="ellipse">
            <a:avLst/>
          </a:prstGeom>
          <a:solidFill>
            <a:srgbClr val="6C4AB6"/>
          </a:solidFill>
          <a:ln/>
        </p:spPr>
      </p:sp>
      <p:sp>
        <p:nvSpPr>
          <p:cNvPr id="11" name="Text 9"/>
          <p:cNvSpPr/>
          <p:nvPr/>
        </p:nvSpPr>
        <p:spPr>
          <a:xfrm>
            <a:off x="6949440" y="1965960"/>
            <a:ext cx="4526280" cy="365760"/>
          </a:xfrm>
          <a:prstGeom prst="rect">
            <a:avLst/>
          </a:prstGeom>
          <a:noFill/>
          <a:ln/>
        </p:spPr>
        <p:txBody>
          <a:bodyPr wrap="square" lIns="0" tIns="0" rIns="0" bIns="0" rtlCol="0" anchor="ctr"/>
          <a:lstStyle/>
          <a:p>
            <a:pPr marL="0" indent="0">
              <a:buNone/>
            </a:pPr>
            <a:r>
              <a:rPr lang="en-US" sz="2000" b="1">
                <a:solidFill>
                  <a:srgbClr val="1B1B2F"/>
                </a:solidFill>
                <a:latin typeface="Calibri" pitchFamily="34" charset="0"/>
                <a:ea typeface="Calibri" pitchFamily="34" charset="-122"/>
                <a:cs typeface="Calibri" pitchFamily="34" charset="-120"/>
              </a:rPr>
              <a:t>Duplicate Records</a:t>
            </a:r>
            <a:endParaRPr lang="en-US" sz="2000"/>
          </a:p>
        </p:txBody>
      </p:sp>
      <p:sp>
        <p:nvSpPr>
          <p:cNvPr id="12" name="Text 10"/>
          <p:cNvSpPr/>
          <p:nvPr/>
        </p:nvSpPr>
        <p:spPr>
          <a:xfrm>
            <a:off x="6537960" y="2468880"/>
            <a:ext cx="4892040" cy="1051560"/>
          </a:xfrm>
          <a:prstGeom prst="rect">
            <a:avLst/>
          </a:prstGeom>
          <a:noFill/>
          <a:ln/>
        </p:spPr>
        <p:txBody>
          <a:bodyPr wrap="square" lIns="0" tIns="0" rIns="0" bIns="0" rtlCol="0" anchor="t"/>
          <a:lstStyle/>
          <a:p>
            <a:pPr marL="0" indent="0">
              <a:buNone/>
            </a:pPr>
            <a:r>
              <a:rPr lang="en-US" sz="1700">
                <a:solidFill>
                  <a:srgbClr val="5B5470"/>
                </a:solidFill>
                <a:latin typeface="Calibri" pitchFamily="34" charset="0"/>
                <a:ea typeface="Calibri" pitchFamily="34" charset="-122"/>
                <a:cs typeface="Calibri" pitchFamily="34" charset="-120"/>
              </a:rPr>
              <a:t>123 duplicate rows found and removed using drop_duplicates().</a:t>
            </a:r>
            <a:endParaRPr lang="en-US" sz="1700"/>
          </a:p>
        </p:txBody>
      </p:sp>
      <p:sp>
        <p:nvSpPr>
          <p:cNvPr id="13" name="Shape 11"/>
          <p:cNvSpPr/>
          <p:nvPr/>
        </p:nvSpPr>
        <p:spPr>
          <a:xfrm>
            <a:off x="548640" y="3977640"/>
            <a:ext cx="5440680" cy="1920240"/>
          </a:xfrm>
          <a:prstGeom prst="roundRect">
            <a:avLst>
              <a:gd name="adj" fmla="val 3810"/>
            </a:avLst>
          </a:prstGeom>
          <a:solidFill>
            <a:srgbClr val="F7F5FC"/>
          </a:solidFill>
          <a:ln/>
          <a:effectLst>
            <a:outerShdw blurRad="101600" dist="38100" dir="2700000" algn="bl" rotWithShape="0">
              <a:srgbClr val="1B1B2F">
                <a:alpha val="12000"/>
              </a:srgbClr>
            </a:outerShdw>
          </a:effectLst>
        </p:spPr>
      </p:sp>
      <p:sp>
        <p:nvSpPr>
          <p:cNvPr id="14" name="Shape 12"/>
          <p:cNvSpPr/>
          <p:nvPr/>
        </p:nvSpPr>
        <p:spPr>
          <a:xfrm>
            <a:off x="777240" y="4206240"/>
            <a:ext cx="292608" cy="292608"/>
          </a:xfrm>
          <a:prstGeom prst="ellipse">
            <a:avLst/>
          </a:prstGeom>
          <a:solidFill>
            <a:srgbClr val="C97F1E"/>
          </a:solidFill>
          <a:ln/>
        </p:spPr>
      </p:sp>
      <p:sp>
        <p:nvSpPr>
          <p:cNvPr id="15" name="Text 13"/>
          <p:cNvSpPr/>
          <p:nvPr/>
        </p:nvSpPr>
        <p:spPr>
          <a:xfrm>
            <a:off x="1234440" y="4160520"/>
            <a:ext cx="4526280" cy="365760"/>
          </a:xfrm>
          <a:prstGeom prst="rect">
            <a:avLst/>
          </a:prstGeom>
          <a:noFill/>
          <a:ln/>
        </p:spPr>
        <p:txBody>
          <a:bodyPr wrap="square" lIns="0" tIns="0" rIns="0" bIns="0" rtlCol="0" anchor="ctr"/>
          <a:lstStyle/>
          <a:p>
            <a:pPr marL="0" indent="0">
              <a:buNone/>
            </a:pPr>
            <a:r>
              <a:rPr lang="en-US" sz="2000" b="1">
                <a:solidFill>
                  <a:srgbClr val="1B1B2F"/>
                </a:solidFill>
                <a:latin typeface="Calibri" pitchFamily="34" charset="0"/>
                <a:ea typeface="Calibri" pitchFamily="34" charset="-122"/>
                <a:cs typeface="Calibri" pitchFamily="34" charset="-120"/>
              </a:rPr>
              <a:t>Type Correction</a:t>
            </a:r>
            <a:endParaRPr lang="en-US" sz="2000"/>
          </a:p>
        </p:txBody>
      </p:sp>
      <p:sp>
        <p:nvSpPr>
          <p:cNvPr id="16" name="Text 14"/>
          <p:cNvSpPr/>
          <p:nvPr/>
        </p:nvSpPr>
        <p:spPr>
          <a:xfrm>
            <a:off x="822960" y="4663440"/>
            <a:ext cx="4892040" cy="1051560"/>
          </a:xfrm>
          <a:prstGeom prst="rect">
            <a:avLst/>
          </a:prstGeom>
          <a:noFill/>
          <a:ln/>
        </p:spPr>
        <p:txBody>
          <a:bodyPr wrap="square" lIns="0" tIns="0" rIns="0" bIns="0" rtlCol="0" anchor="t"/>
          <a:lstStyle/>
          <a:p>
            <a:pPr marL="0" indent="0">
              <a:buNone/>
            </a:pPr>
            <a:r>
              <a:rPr lang="en-US" sz="1700" err="1" smtClean="0">
                <a:solidFill>
                  <a:srgbClr val="5B5470"/>
                </a:solidFill>
                <a:latin typeface="Calibri" pitchFamily="34" charset="0"/>
                <a:ea typeface="Calibri" pitchFamily="34" charset="-122"/>
                <a:cs typeface="Calibri" pitchFamily="34" charset="-120"/>
              </a:rPr>
              <a:t>Anxiety_Level_During_Exams</a:t>
            </a:r>
            <a:r>
              <a:rPr lang="en-US" sz="1700" smtClean="0">
                <a:solidFill>
                  <a:srgbClr val="5B5470"/>
                </a:solidFill>
                <a:latin typeface="Calibri" pitchFamily="34" charset="0"/>
                <a:ea typeface="Calibri" pitchFamily="34" charset="-122"/>
                <a:cs typeface="Calibri" pitchFamily="34" charset="-120"/>
              </a:rPr>
              <a:t> and </a:t>
            </a:r>
            <a:r>
              <a:rPr lang="en-US" sz="1700" err="1" smtClean="0">
                <a:solidFill>
                  <a:srgbClr val="5B5470"/>
                </a:solidFill>
                <a:latin typeface="Calibri" pitchFamily="34" charset="0"/>
                <a:ea typeface="Calibri" pitchFamily="34" charset="-122"/>
                <a:cs typeface="Calibri" pitchFamily="34" charset="-120"/>
              </a:rPr>
              <a:t>Post_Semester_GPA</a:t>
            </a:r>
            <a:r>
              <a:rPr lang="en-US" sz="1700" smtClean="0">
                <a:solidFill>
                  <a:srgbClr val="5B5470"/>
                </a:solidFill>
                <a:latin typeface="Calibri" pitchFamily="34" charset="0"/>
                <a:ea typeface="Calibri" pitchFamily="34" charset="-122"/>
                <a:cs typeface="Calibri" pitchFamily="34" charset="-120"/>
              </a:rPr>
              <a:t> had text/mixed entries — converted to numeric using </a:t>
            </a:r>
            <a:r>
              <a:rPr lang="en-US" sz="1700" err="1" smtClean="0">
                <a:solidFill>
                  <a:srgbClr val="5B5470"/>
                </a:solidFill>
                <a:latin typeface="Calibri" pitchFamily="34" charset="0"/>
                <a:ea typeface="Calibri" pitchFamily="34" charset="-122"/>
                <a:cs typeface="Calibri" pitchFamily="34" charset="-120"/>
              </a:rPr>
              <a:t>pd.to_numeric</a:t>
            </a:r>
            <a:r>
              <a:rPr lang="en-US" sz="1700" smtClean="0">
                <a:solidFill>
                  <a:srgbClr val="5B5470"/>
                </a:solidFill>
                <a:latin typeface="Calibri" pitchFamily="34" charset="0"/>
                <a:ea typeface="Calibri" pitchFamily="34" charset="-122"/>
                <a:cs typeface="Calibri" pitchFamily="34" charset="-120"/>
              </a:rPr>
              <a:t>().</a:t>
            </a:r>
            <a:endParaRPr lang="en-US" sz="1700"/>
          </a:p>
        </p:txBody>
      </p:sp>
      <p:sp>
        <p:nvSpPr>
          <p:cNvPr id="17" name="Shape 15"/>
          <p:cNvSpPr/>
          <p:nvPr/>
        </p:nvSpPr>
        <p:spPr>
          <a:xfrm>
            <a:off x="6263640" y="3977640"/>
            <a:ext cx="5440680" cy="1920240"/>
          </a:xfrm>
          <a:prstGeom prst="roundRect">
            <a:avLst>
              <a:gd name="adj" fmla="val 3810"/>
            </a:avLst>
          </a:prstGeom>
          <a:solidFill>
            <a:srgbClr val="F7F5FC"/>
          </a:solidFill>
          <a:ln/>
          <a:effectLst>
            <a:outerShdw blurRad="101600" dist="38100" dir="2700000" algn="bl" rotWithShape="0">
              <a:srgbClr val="1B1B2F">
                <a:alpha val="12000"/>
              </a:srgbClr>
            </a:outerShdw>
          </a:effectLst>
        </p:spPr>
      </p:sp>
      <p:sp>
        <p:nvSpPr>
          <p:cNvPr id="18" name="Shape 16"/>
          <p:cNvSpPr/>
          <p:nvPr/>
        </p:nvSpPr>
        <p:spPr>
          <a:xfrm>
            <a:off x="6492240" y="4206240"/>
            <a:ext cx="292608" cy="292608"/>
          </a:xfrm>
          <a:prstGeom prst="ellipse">
            <a:avLst/>
          </a:prstGeom>
          <a:solidFill>
            <a:srgbClr val="2E8B57"/>
          </a:solidFill>
          <a:ln/>
        </p:spPr>
      </p:sp>
      <p:sp>
        <p:nvSpPr>
          <p:cNvPr id="19" name="Text 17"/>
          <p:cNvSpPr/>
          <p:nvPr/>
        </p:nvSpPr>
        <p:spPr>
          <a:xfrm>
            <a:off x="6949440" y="4160520"/>
            <a:ext cx="4526280" cy="365760"/>
          </a:xfrm>
          <a:prstGeom prst="rect">
            <a:avLst/>
          </a:prstGeom>
          <a:noFill/>
          <a:ln/>
        </p:spPr>
        <p:txBody>
          <a:bodyPr wrap="square" lIns="0" tIns="0" rIns="0" bIns="0" rtlCol="0" anchor="ctr"/>
          <a:lstStyle/>
          <a:p>
            <a:pPr marL="0" indent="0">
              <a:buNone/>
            </a:pPr>
            <a:r>
              <a:rPr lang="en-US" sz="2000" b="1" smtClean="0">
                <a:solidFill>
                  <a:srgbClr val="1B1B2F"/>
                </a:solidFill>
                <a:latin typeface="Calibri" pitchFamily="34" charset="0"/>
                <a:ea typeface="Calibri" pitchFamily="34" charset="-122"/>
                <a:cs typeface="Calibri" pitchFamily="34" charset="-120"/>
              </a:rPr>
              <a:t>Type Casting</a:t>
            </a:r>
            <a:endParaRPr lang="en-US" sz="2000"/>
          </a:p>
        </p:txBody>
      </p:sp>
      <p:sp>
        <p:nvSpPr>
          <p:cNvPr id="20" name="Text 18"/>
          <p:cNvSpPr/>
          <p:nvPr/>
        </p:nvSpPr>
        <p:spPr>
          <a:xfrm>
            <a:off x="6537960" y="4663440"/>
            <a:ext cx="4892040" cy="1051560"/>
          </a:xfrm>
          <a:prstGeom prst="rect">
            <a:avLst/>
          </a:prstGeom>
          <a:noFill/>
          <a:ln/>
        </p:spPr>
        <p:txBody>
          <a:bodyPr wrap="square" lIns="0" tIns="0" rIns="0" bIns="0" rtlCol="0" anchor="t"/>
          <a:lstStyle/>
          <a:p>
            <a:pPr marL="0" indent="0">
              <a:buNone/>
            </a:pPr>
            <a:r>
              <a:rPr lang="en-US" sz="1700">
                <a:solidFill>
                  <a:srgbClr val="5B5470"/>
                </a:solidFill>
                <a:latin typeface="Calibri" pitchFamily="34" charset="0"/>
                <a:ea typeface="Calibri" pitchFamily="34" charset="-122"/>
                <a:cs typeface="Calibri" pitchFamily="34" charset="-120"/>
              </a:rPr>
              <a:t>Anxiety_Level_During_Exams cast to int; Post_Semester_GPA cast to float for consistent analysis.</a:t>
            </a:r>
            <a:endParaRPr lang="en-US" sz="1700"/>
          </a:p>
        </p:txBody>
      </p:sp>
      <p:sp>
        <p:nvSpPr>
          <p:cNvPr id="21" name="Text 19"/>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22" name="Text 20"/>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a:solidFill>
                  <a:srgbClr val="5B5470"/>
                </a:solidFill>
                <a:latin typeface="Calibri" pitchFamily="34" charset="0"/>
                <a:ea typeface="Calibri" pitchFamily="34" charset="-122"/>
                <a:cs typeface="Calibri" pitchFamily="34" charset="-120"/>
              </a:rPr>
              <a:t>8</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dirty="0">
                <a:solidFill>
                  <a:srgbClr val="6C4AB6"/>
                </a:solidFill>
                <a:latin typeface="Calibri" pitchFamily="34" charset="0"/>
                <a:ea typeface="Calibri" pitchFamily="34" charset="-122"/>
                <a:cs typeface="Calibri" pitchFamily="34" charset="-120"/>
              </a:rPr>
              <a:t>DATA CLEANING</a:t>
            </a:r>
            <a:endParaRPr lang="en-US" sz="1900" dirty="0"/>
          </a:p>
        </p:txBody>
      </p:sp>
      <p:sp>
        <p:nvSpPr>
          <p:cNvPr id="4" name="Text 2"/>
          <p:cNvSpPr/>
          <p:nvPr/>
        </p:nvSpPr>
        <p:spPr>
          <a:xfrm>
            <a:off x="489396" y="777240"/>
            <a:ext cx="11242355" cy="640080"/>
          </a:xfrm>
          <a:prstGeom prst="rect">
            <a:avLst/>
          </a:prstGeom>
          <a:noFill/>
          <a:ln/>
        </p:spPr>
        <p:txBody>
          <a:bodyPr wrap="square" lIns="0" tIns="0" rIns="0" bIns="0" rtlCol="0" anchor="ctr"/>
          <a:lstStyle/>
          <a:p>
            <a:pPr marL="0" indent="0">
              <a:buNone/>
            </a:pPr>
            <a:r>
              <a:rPr lang="en-US" sz="3000" b="1">
                <a:solidFill>
                  <a:srgbClr val="1B1B2F"/>
                </a:solidFill>
                <a:latin typeface="Cambria" pitchFamily="34" charset="0"/>
                <a:ea typeface="Cambria" pitchFamily="34" charset="-122"/>
                <a:cs typeface="Cambria" pitchFamily="34" charset="-120"/>
              </a:rPr>
              <a:t>Missing Values &amp; Duplicates — Before / After</a:t>
            </a:r>
            <a:endParaRPr lang="en-US" sz="3000"/>
          </a:p>
        </p:txBody>
      </p:sp>
      <p:sp>
        <p:nvSpPr>
          <p:cNvPr id="5" name="Shape 3"/>
          <p:cNvSpPr/>
          <p:nvPr/>
        </p:nvSpPr>
        <p:spPr>
          <a:xfrm>
            <a:off x="548640" y="1481328"/>
            <a:ext cx="2606040" cy="1101852"/>
          </a:xfrm>
          <a:prstGeom prst="roundRect">
            <a:avLst>
              <a:gd name="adj" fmla="val 5333"/>
            </a:avLst>
          </a:prstGeom>
          <a:solidFill>
            <a:srgbClr val="F7F5FC"/>
          </a:solidFill>
          <a:ln/>
          <a:effectLst>
            <a:outerShdw blurRad="101600" dist="38100" dir="2700000" algn="bl" rotWithShape="0">
              <a:srgbClr val="1B1B2F">
                <a:alpha val="12000"/>
              </a:srgbClr>
            </a:outerShdw>
          </a:effectLst>
        </p:spPr>
      </p:sp>
      <p:sp>
        <p:nvSpPr>
          <p:cNvPr id="6" name="Text 4"/>
          <p:cNvSpPr/>
          <p:nvPr/>
        </p:nvSpPr>
        <p:spPr>
          <a:xfrm>
            <a:off x="459776" y="1394460"/>
            <a:ext cx="2606040" cy="868680"/>
          </a:xfrm>
          <a:prstGeom prst="rect">
            <a:avLst/>
          </a:prstGeom>
          <a:noFill/>
          <a:ln/>
        </p:spPr>
        <p:txBody>
          <a:bodyPr wrap="square" lIns="0" tIns="0" rIns="0" bIns="0" rtlCol="0" anchor="ctr"/>
          <a:lstStyle/>
          <a:p>
            <a:pPr marL="0" indent="0" algn="ctr">
              <a:buNone/>
            </a:pPr>
            <a:r>
              <a:rPr lang="en-US" sz="3000" b="1">
                <a:solidFill>
                  <a:srgbClr val="5B5470"/>
                </a:solidFill>
                <a:latin typeface="Cambria" pitchFamily="34" charset="0"/>
                <a:ea typeface="Cambria" pitchFamily="34" charset="-122"/>
                <a:cs typeface="Cambria" pitchFamily="34" charset="-120"/>
              </a:rPr>
              <a:t>30,900</a:t>
            </a:r>
            <a:endParaRPr lang="en-US" sz="3000"/>
          </a:p>
        </p:txBody>
      </p:sp>
      <p:sp>
        <p:nvSpPr>
          <p:cNvPr id="7" name="Text 5"/>
          <p:cNvSpPr/>
          <p:nvPr/>
        </p:nvSpPr>
        <p:spPr>
          <a:xfrm>
            <a:off x="498090" y="2148840"/>
            <a:ext cx="2423160" cy="384048"/>
          </a:xfrm>
          <a:prstGeom prst="rect">
            <a:avLst/>
          </a:prstGeom>
          <a:noFill/>
          <a:ln/>
        </p:spPr>
        <p:txBody>
          <a:bodyPr wrap="square" lIns="0" tIns="0" rIns="0" bIns="0" rtlCol="0" anchor="t"/>
          <a:lstStyle/>
          <a:p>
            <a:pPr marL="0" indent="0" algn="ctr">
              <a:buNone/>
            </a:pPr>
            <a:r>
              <a:rPr lang="en-US" sz="1500">
                <a:solidFill>
                  <a:srgbClr val="5B5470"/>
                </a:solidFill>
                <a:latin typeface="Calibri" pitchFamily="34" charset="0"/>
                <a:ea typeface="Calibri" pitchFamily="34" charset="-122"/>
                <a:cs typeface="Calibri" pitchFamily="34" charset="-120"/>
              </a:rPr>
              <a:t>Original Rows</a:t>
            </a:r>
            <a:endParaRPr lang="en-US" sz="1500"/>
          </a:p>
        </p:txBody>
      </p:sp>
      <p:sp>
        <p:nvSpPr>
          <p:cNvPr id="8" name="Shape 6"/>
          <p:cNvSpPr/>
          <p:nvPr/>
        </p:nvSpPr>
        <p:spPr>
          <a:xfrm>
            <a:off x="3337560" y="1495881"/>
            <a:ext cx="2606040" cy="1122716"/>
          </a:xfrm>
          <a:prstGeom prst="roundRect">
            <a:avLst>
              <a:gd name="adj" fmla="val 5333"/>
            </a:avLst>
          </a:prstGeom>
          <a:solidFill>
            <a:srgbClr val="F7F5FC"/>
          </a:solidFill>
          <a:ln/>
          <a:effectLst>
            <a:outerShdw blurRad="101600" dist="38100" dir="2700000" algn="bl" rotWithShape="0">
              <a:srgbClr val="1B1B2F">
                <a:alpha val="12000"/>
              </a:srgbClr>
            </a:outerShdw>
          </a:effectLst>
        </p:spPr>
      </p:sp>
      <p:sp>
        <p:nvSpPr>
          <p:cNvPr id="9" name="Text 7"/>
          <p:cNvSpPr/>
          <p:nvPr/>
        </p:nvSpPr>
        <p:spPr>
          <a:xfrm>
            <a:off x="3217464" y="1450483"/>
            <a:ext cx="2606040" cy="868680"/>
          </a:xfrm>
          <a:prstGeom prst="rect">
            <a:avLst/>
          </a:prstGeom>
          <a:noFill/>
          <a:ln/>
        </p:spPr>
        <p:txBody>
          <a:bodyPr wrap="square" lIns="0" tIns="0" rIns="0" bIns="0" rtlCol="0" anchor="ctr"/>
          <a:lstStyle/>
          <a:p>
            <a:pPr marL="0" indent="0" algn="ctr">
              <a:buNone/>
            </a:pPr>
            <a:r>
              <a:rPr lang="en-US" sz="3000" b="1">
                <a:solidFill>
                  <a:srgbClr val="C0392B"/>
                </a:solidFill>
                <a:latin typeface="Cambria" pitchFamily="34" charset="0"/>
                <a:ea typeface="Cambria" pitchFamily="34" charset="-122"/>
                <a:cs typeface="Cambria" pitchFamily="34" charset="-120"/>
              </a:rPr>
              <a:t>123</a:t>
            </a:r>
            <a:endParaRPr lang="en-US" sz="3000"/>
          </a:p>
        </p:txBody>
      </p:sp>
      <p:sp>
        <p:nvSpPr>
          <p:cNvPr id="10" name="Text 8"/>
          <p:cNvSpPr/>
          <p:nvPr/>
        </p:nvSpPr>
        <p:spPr>
          <a:xfrm>
            <a:off x="3401632" y="2234549"/>
            <a:ext cx="2423160" cy="384048"/>
          </a:xfrm>
          <a:prstGeom prst="rect">
            <a:avLst/>
          </a:prstGeom>
          <a:noFill/>
          <a:ln/>
        </p:spPr>
        <p:txBody>
          <a:bodyPr wrap="square" lIns="0" tIns="0" rIns="0" bIns="0" rtlCol="0" anchor="t"/>
          <a:lstStyle/>
          <a:p>
            <a:pPr marL="0" indent="0" algn="ctr">
              <a:buNone/>
            </a:pPr>
            <a:r>
              <a:rPr lang="en-US" sz="1500">
                <a:solidFill>
                  <a:srgbClr val="5B5470"/>
                </a:solidFill>
                <a:latin typeface="Calibri" pitchFamily="34" charset="0"/>
                <a:ea typeface="Calibri" pitchFamily="34" charset="-122"/>
                <a:cs typeface="Calibri" pitchFamily="34" charset="-120"/>
              </a:rPr>
              <a:t>Duplicate Rows Removed</a:t>
            </a:r>
            <a:endParaRPr lang="en-US" sz="1500"/>
          </a:p>
        </p:txBody>
      </p:sp>
      <p:sp>
        <p:nvSpPr>
          <p:cNvPr id="11" name="Shape 9"/>
          <p:cNvSpPr/>
          <p:nvPr/>
        </p:nvSpPr>
        <p:spPr>
          <a:xfrm>
            <a:off x="6052104" y="1481328"/>
            <a:ext cx="2606040" cy="1134726"/>
          </a:xfrm>
          <a:prstGeom prst="roundRect">
            <a:avLst>
              <a:gd name="adj" fmla="val 5333"/>
            </a:avLst>
          </a:prstGeom>
          <a:solidFill>
            <a:srgbClr val="F7F5FC"/>
          </a:solidFill>
          <a:ln/>
          <a:effectLst>
            <a:outerShdw blurRad="101600" dist="38100" dir="2700000" algn="bl" rotWithShape="0">
              <a:srgbClr val="1B1B2F">
                <a:alpha val="12000"/>
              </a:srgbClr>
            </a:outerShdw>
          </a:effectLst>
        </p:spPr>
      </p:sp>
      <p:sp>
        <p:nvSpPr>
          <p:cNvPr id="12" name="Text 10"/>
          <p:cNvSpPr/>
          <p:nvPr/>
        </p:nvSpPr>
        <p:spPr>
          <a:xfrm>
            <a:off x="6006384" y="1423599"/>
            <a:ext cx="2606040" cy="868680"/>
          </a:xfrm>
          <a:prstGeom prst="rect">
            <a:avLst/>
          </a:prstGeom>
          <a:noFill/>
          <a:ln/>
        </p:spPr>
        <p:txBody>
          <a:bodyPr wrap="square" lIns="0" tIns="0" rIns="0" bIns="0" rtlCol="0" anchor="ctr"/>
          <a:lstStyle/>
          <a:p>
            <a:pPr marL="0" indent="0" algn="ctr">
              <a:buNone/>
            </a:pPr>
            <a:r>
              <a:rPr lang="en-US" sz="3000" b="1">
                <a:solidFill>
                  <a:srgbClr val="2E8B57"/>
                </a:solidFill>
                <a:latin typeface="Cambria" pitchFamily="34" charset="0"/>
                <a:ea typeface="Cambria" pitchFamily="34" charset="-122"/>
                <a:cs typeface="Cambria" pitchFamily="34" charset="-120"/>
              </a:rPr>
              <a:t>30,777</a:t>
            </a:r>
            <a:endParaRPr lang="en-US" sz="3000"/>
          </a:p>
        </p:txBody>
      </p:sp>
      <p:sp>
        <p:nvSpPr>
          <p:cNvPr id="13" name="Text 11"/>
          <p:cNvSpPr/>
          <p:nvPr/>
        </p:nvSpPr>
        <p:spPr>
          <a:xfrm>
            <a:off x="6097824" y="2232006"/>
            <a:ext cx="2423160" cy="384048"/>
          </a:xfrm>
          <a:prstGeom prst="rect">
            <a:avLst/>
          </a:prstGeom>
          <a:noFill/>
          <a:ln/>
        </p:spPr>
        <p:txBody>
          <a:bodyPr wrap="square" lIns="0" tIns="0" rIns="0" bIns="0" rtlCol="0" anchor="t"/>
          <a:lstStyle/>
          <a:p>
            <a:pPr marL="0" indent="0" algn="ctr">
              <a:buNone/>
            </a:pPr>
            <a:r>
              <a:rPr lang="en-US" sz="1500">
                <a:solidFill>
                  <a:srgbClr val="5B5470"/>
                </a:solidFill>
                <a:latin typeface="Calibri" pitchFamily="34" charset="0"/>
                <a:ea typeface="Calibri" pitchFamily="34" charset="-122"/>
                <a:cs typeface="Calibri" pitchFamily="34" charset="-120"/>
              </a:rPr>
              <a:t>Rows After Cleaning</a:t>
            </a:r>
            <a:endParaRPr lang="en-US" sz="1500"/>
          </a:p>
        </p:txBody>
      </p:sp>
      <p:sp>
        <p:nvSpPr>
          <p:cNvPr id="14" name="Shape 12"/>
          <p:cNvSpPr/>
          <p:nvPr/>
        </p:nvSpPr>
        <p:spPr>
          <a:xfrm>
            <a:off x="8751516" y="1464891"/>
            <a:ext cx="2606040" cy="1134726"/>
          </a:xfrm>
          <a:prstGeom prst="roundRect">
            <a:avLst>
              <a:gd name="adj" fmla="val 5333"/>
            </a:avLst>
          </a:prstGeom>
          <a:solidFill>
            <a:srgbClr val="F7F5FC"/>
          </a:solidFill>
          <a:ln/>
          <a:effectLst>
            <a:outerShdw blurRad="101600" dist="38100" dir="2700000" algn="bl" rotWithShape="0">
              <a:srgbClr val="1B1B2F">
                <a:alpha val="12000"/>
              </a:srgbClr>
            </a:outerShdw>
          </a:effectLst>
        </p:spPr>
      </p:sp>
      <p:sp>
        <p:nvSpPr>
          <p:cNvPr id="15" name="Text 13"/>
          <p:cNvSpPr/>
          <p:nvPr/>
        </p:nvSpPr>
        <p:spPr>
          <a:xfrm>
            <a:off x="8675208" y="1385380"/>
            <a:ext cx="2606040" cy="868680"/>
          </a:xfrm>
          <a:prstGeom prst="rect">
            <a:avLst/>
          </a:prstGeom>
          <a:noFill/>
          <a:ln/>
        </p:spPr>
        <p:txBody>
          <a:bodyPr wrap="square" lIns="0" tIns="0" rIns="0" bIns="0" rtlCol="0" anchor="ctr"/>
          <a:lstStyle/>
          <a:p>
            <a:pPr marL="0" indent="0" algn="ctr">
              <a:buNone/>
            </a:pPr>
            <a:r>
              <a:rPr lang="en-US" sz="3000" b="1">
                <a:solidFill>
                  <a:srgbClr val="2E8B57"/>
                </a:solidFill>
                <a:latin typeface="Cambria" pitchFamily="34" charset="0"/>
                <a:ea typeface="Cambria" pitchFamily="34" charset="-122"/>
                <a:cs typeface="Cambria" pitchFamily="34" charset="-120"/>
              </a:rPr>
              <a:t>0</a:t>
            </a:r>
            <a:endParaRPr lang="en-US" sz="3000"/>
          </a:p>
        </p:txBody>
      </p:sp>
      <p:sp>
        <p:nvSpPr>
          <p:cNvPr id="16" name="Text 14"/>
          <p:cNvSpPr/>
          <p:nvPr/>
        </p:nvSpPr>
        <p:spPr>
          <a:xfrm>
            <a:off x="8842956" y="2180007"/>
            <a:ext cx="2423160" cy="384048"/>
          </a:xfrm>
          <a:prstGeom prst="rect">
            <a:avLst/>
          </a:prstGeom>
          <a:noFill/>
          <a:ln/>
        </p:spPr>
        <p:txBody>
          <a:bodyPr wrap="square" lIns="0" tIns="0" rIns="0" bIns="0" rtlCol="0" anchor="t"/>
          <a:lstStyle/>
          <a:p>
            <a:pPr marL="0" indent="0" algn="ctr">
              <a:buNone/>
            </a:pPr>
            <a:r>
              <a:rPr lang="en-US" sz="1500">
                <a:solidFill>
                  <a:srgbClr val="5B5470"/>
                </a:solidFill>
                <a:latin typeface="Calibri" pitchFamily="34" charset="0"/>
                <a:ea typeface="Calibri" pitchFamily="34" charset="-122"/>
                <a:cs typeface="Calibri" pitchFamily="34" charset="-120"/>
              </a:rPr>
              <a:t>Duplicates Remaining</a:t>
            </a:r>
            <a:endParaRPr lang="en-US" sz="1500"/>
          </a:p>
        </p:txBody>
      </p:sp>
      <p:sp>
        <p:nvSpPr>
          <p:cNvPr id="17" name="Text 15"/>
          <p:cNvSpPr/>
          <p:nvPr/>
        </p:nvSpPr>
        <p:spPr>
          <a:xfrm>
            <a:off x="548640" y="2775140"/>
            <a:ext cx="7315200" cy="320040"/>
          </a:xfrm>
          <a:prstGeom prst="rect">
            <a:avLst/>
          </a:prstGeom>
          <a:noFill/>
          <a:ln/>
        </p:spPr>
        <p:txBody>
          <a:bodyPr wrap="square" lIns="0" tIns="0" rIns="0" bIns="0" rtlCol="0" anchor="ctr"/>
          <a:lstStyle/>
          <a:p>
            <a:pPr marL="0" indent="0">
              <a:buNone/>
            </a:pPr>
            <a:r>
              <a:rPr lang="en-US" sz="1600" b="1">
                <a:solidFill>
                  <a:srgbClr val="1B1B2F"/>
                </a:solidFill>
                <a:latin typeface="Calibri" pitchFamily="34" charset="0"/>
                <a:ea typeface="Calibri" pitchFamily="34" charset="-122"/>
                <a:cs typeface="Calibri" pitchFamily="34" charset="-120"/>
              </a:rPr>
              <a:t>Missing Values by Column (before imputation)</a:t>
            </a:r>
            <a:endParaRPr lang="en-US" sz="1600"/>
          </a:p>
        </p:txBody>
      </p:sp>
      <p:sp>
        <p:nvSpPr>
          <p:cNvPr id="19" name="Text 16"/>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20" name="Text 17"/>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a:solidFill>
                  <a:srgbClr val="5B5470"/>
                </a:solidFill>
                <a:latin typeface="Calibri" pitchFamily="34" charset="0"/>
                <a:ea typeface="Calibri" pitchFamily="34" charset="-122"/>
                <a:cs typeface="Calibri" pitchFamily="34" charset="-120"/>
              </a:rPr>
              <a:t>9</a:t>
            </a:r>
            <a:endParaRPr lang="en-US" sz="900"/>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6888" y="3200400"/>
            <a:ext cx="3247192" cy="35908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0226" y="56186"/>
            <a:ext cx="11874321" cy="553998"/>
          </a:xfrm>
          <a:prstGeom prst="rect">
            <a:avLst/>
          </a:prstGeom>
          <a:noFill/>
        </p:spPr>
        <p:txBody>
          <a:bodyPr wrap="square" rtlCol="0">
            <a:spAutoFit/>
          </a:bodyPr>
          <a:lstStyle/>
          <a:p>
            <a:r>
              <a:rPr lang="en-US" sz="3000" b="1" smtClean="0"/>
              <a:t>Type Casting</a:t>
            </a:r>
            <a:endParaRPr lang="en-US" sz="3000" b="1"/>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7651" y="2876063"/>
            <a:ext cx="3454770" cy="358443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8199" y="2876063"/>
            <a:ext cx="3478083" cy="3598336"/>
          </a:xfrm>
          <a:prstGeom prst="rect">
            <a:avLst/>
          </a:prstGeom>
        </p:spPr>
      </p:pic>
      <p:sp>
        <p:nvSpPr>
          <p:cNvPr id="6" name="TextBox 5"/>
          <p:cNvSpPr txBox="1"/>
          <p:nvPr/>
        </p:nvSpPr>
        <p:spPr>
          <a:xfrm>
            <a:off x="880679" y="2506731"/>
            <a:ext cx="9036052" cy="369332"/>
          </a:xfrm>
          <a:prstGeom prst="rect">
            <a:avLst/>
          </a:prstGeom>
          <a:noFill/>
        </p:spPr>
        <p:txBody>
          <a:bodyPr wrap="square" rtlCol="0">
            <a:spAutoFit/>
          </a:bodyPr>
          <a:lstStyle/>
          <a:p>
            <a:r>
              <a:rPr lang="en-US" b="1" smtClean="0"/>
              <a:t>            Before Type Casting                                                                                     After type Casting</a:t>
            </a:r>
            <a:endParaRPr lang="en-US" b="1"/>
          </a:p>
        </p:txBody>
      </p:sp>
      <p:sp>
        <p:nvSpPr>
          <p:cNvPr id="9" name="Rectangle 2"/>
          <p:cNvSpPr>
            <a:spLocks noChangeArrowheads="1"/>
          </p:cNvSpPr>
          <p:nvPr/>
        </p:nvSpPr>
        <p:spPr bwMode="auto">
          <a:xfrm>
            <a:off x="331786" y="1537235"/>
            <a:ext cx="11983481"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900" b="0" i="0" u="none" strike="noStrike" cap="none" normalizeH="0" baseline="0" smtClean="0">
                <a:ln>
                  <a:noFill/>
                </a:ln>
                <a:solidFill>
                  <a:schemeClr val="tx1"/>
                </a:solidFill>
                <a:effectLst/>
                <a:latin typeface="Arial" panose="020B0604020202020204" pitchFamily="34" charset="0"/>
              </a:rPr>
              <a:t>Converted </a:t>
            </a:r>
            <a:r>
              <a:rPr kumimoji="0" lang="en-US" sz="1900" b="0" i="0" u="none" strike="noStrike" cap="none" normalizeH="0" baseline="0" err="1" smtClean="0">
                <a:ln>
                  <a:noFill/>
                </a:ln>
                <a:solidFill>
                  <a:schemeClr val="tx1"/>
                </a:solidFill>
                <a:effectLst/>
                <a:latin typeface="Arial Unicode MS" panose="020B0604020202020204" pitchFamily="34" charset="-128"/>
              </a:rPr>
              <a:t>Anxiety_Level_During_Exams</a:t>
            </a:r>
            <a:r>
              <a:rPr kumimoji="0" lang="en-US" sz="1900" b="0" i="0" u="none" strike="noStrike" cap="none" normalizeH="0" baseline="0" smtClean="0">
                <a:ln>
                  <a:noFill/>
                </a:ln>
                <a:solidFill>
                  <a:schemeClr val="tx1"/>
                </a:solidFill>
                <a:effectLst/>
              </a:rPr>
              <a:t> from string/object to </a:t>
            </a:r>
            <a:r>
              <a:rPr kumimoji="0" lang="en-US" sz="1900" b="1" i="0" u="none" strike="noStrike" cap="none" normalizeH="0" baseline="0" smtClean="0">
                <a:ln>
                  <a:noFill/>
                </a:ln>
                <a:solidFill>
                  <a:schemeClr val="tx1"/>
                </a:solidFill>
                <a:effectLst/>
                <a:latin typeface="Arial" panose="020B0604020202020204" pitchFamily="34" charset="0"/>
              </a:rPr>
              <a:t>integer (</a:t>
            </a:r>
            <a:r>
              <a:rPr kumimoji="0" lang="en-US" sz="1900" b="1" i="0" u="none" strike="noStrike" cap="none" normalizeH="0" baseline="0" err="1" smtClean="0">
                <a:ln>
                  <a:noFill/>
                </a:ln>
                <a:solidFill>
                  <a:schemeClr val="tx1"/>
                </a:solidFill>
                <a:effectLst/>
                <a:latin typeface="Arial" panose="020B0604020202020204" pitchFamily="34" charset="0"/>
              </a:rPr>
              <a:t>int</a:t>
            </a:r>
            <a:r>
              <a:rPr kumimoji="0" lang="en-US" sz="1900" b="1" i="0" u="none" strike="noStrike" cap="none" normalizeH="0" baseline="0" smtClean="0">
                <a:ln>
                  <a:noFill/>
                </a:ln>
                <a:solidFill>
                  <a:schemeClr val="tx1"/>
                </a:solidFill>
                <a:effectLst/>
                <a:latin typeface="Arial" panose="020B0604020202020204" pitchFamily="34" charset="0"/>
              </a:rPr>
              <a:t>)</a:t>
            </a:r>
            <a:r>
              <a:rPr kumimoji="0" lang="en-US" sz="1900" b="0" i="0" u="none" strike="noStrike" cap="none" normalizeH="0" baseline="0" smtClean="0">
                <a:ln>
                  <a:noFill/>
                </a:ln>
                <a:solidFill>
                  <a:schemeClr val="tx1"/>
                </a:solidFill>
                <a:effectLst/>
                <a:latin typeface="Arial" panose="020B0604020202020204" pitchFamily="34" charset="0"/>
              </a:rPr>
              <a:t> for numerical analysis.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sz="1900" b="0" i="0" u="none" strike="noStrike" cap="none" normalizeH="0" baseline="0" smtClean="0">
                <a:ln>
                  <a:noFill/>
                </a:ln>
                <a:solidFill>
                  <a:schemeClr val="tx1"/>
                </a:solidFill>
                <a:effectLst/>
                <a:latin typeface="Arial" panose="020B0604020202020204" pitchFamily="34" charset="0"/>
              </a:rPr>
              <a:t>Converted </a:t>
            </a:r>
            <a:r>
              <a:rPr kumimoji="0" lang="en-US" sz="1900" b="0" i="0" u="none" strike="noStrike" cap="none" normalizeH="0" baseline="0" err="1" smtClean="0">
                <a:ln>
                  <a:noFill/>
                </a:ln>
                <a:solidFill>
                  <a:schemeClr val="tx1"/>
                </a:solidFill>
                <a:effectLst/>
                <a:latin typeface="Arial Unicode MS" panose="020B0604020202020204" pitchFamily="34" charset="-128"/>
              </a:rPr>
              <a:t>st_Semester_GPA</a:t>
            </a:r>
            <a:r>
              <a:rPr kumimoji="0" lang="en-US" sz="1900" b="0" i="0" u="none" strike="noStrike" cap="none" normalizeH="0" baseline="0" smtClean="0">
                <a:ln>
                  <a:noFill/>
                </a:ln>
                <a:solidFill>
                  <a:schemeClr val="tx1"/>
                </a:solidFill>
                <a:effectLst/>
              </a:rPr>
              <a:t> from string/object to </a:t>
            </a:r>
            <a:r>
              <a:rPr kumimoji="0" lang="en-US" sz="1900" b="1" i="0" u="none" strike="noStrike" cap="none" normalizeH="0" baseline="0" smtClean="0">
                <a:ln>
                  <a:noFill/>
                </a:ln>
                <a:solidFill>
                  <a:schemeClr val="tx1"/>
                </a:solidFill>
                <a:effectLst/>
                <a:latin typeface="Arial" panose="020B0604020202020204" pitchFamily="34" charset="0"/>
              </a:rPr>
              <a:t>float</a:t>
            </a:r>
            <a:r>
              <a:rPr kumimoji="0" lang="en-US" sz="1900" b="0" i="0" u="none" strike="noStrike" cap="none" normalizeH="0" baseline="0" smtClean="0">
                <a:ln>
                  <a:noFill/>
                </a:ln>
                <a:solidFill>
                  <a:schemeClr val="tx1"/>
                </a:solidFill>
                <a:effectLst/>
                <a:latin typeface="Arial" panose="020B0604020202020204" pitchFamily="34" charset="0"/>
              </a:rPr>
              <a:t> to perform accurate calculations and statistical</a:t>
            </a:r>
          </a:p>
          <a:p>
            <a:pPr marL="0" marR="0" lvl="0" indent="0" algn="l" defTabSz="914400" rtl="0" eaLnBrk="0" fontAlgn="base" latinLnBrk="0" hangingPunct="0">
              <a:lnSpc>
                <a:spcPct val="100000"/>
              </a:lnSpc>
              <a:spcBef>
                <a:spcPct val="0"/>
              </a:spcBef>
              <a:spcAft>
                <a:spcPct val="0"/>
              </a:spcAft>
              <a:buClrTx/>
              <a:buSzTx/>
              <a:tabLst/>
            </a:pPr>
            <a:r>
              <a:rPr kumimoji="0" lang="en-US" sz="1900" b="0" i="0" u="none" strike="noStrike" cap="none" normalizeH="0" baseline="0" smtClean="0">
                <a:ln>
                  <a:noFill/>
                </a:ln>
                <a:solidFill>
                  <a:schemeClr val="tx1"/>
                </a:solidFill>
                <a:effectLst/>
                <a:latin typeface="Arial" panose="020B0604020202020204" pitchFamily="34" charset="0"/>
              </a:rPr>
              <a:t>     operations. </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651" y="610184"/>
            <a:ext cx="10916369" cy="821322"/>
          </a:xfrm>
          <a:prstGeom prst="rect">
            <a:avLst/>
          </a:prstGeom>
        </p:spPr>
      </p:pic>
      <p:sp>
        <p:nvSpPr>
          <p:cNvPr id="11" name="Rectangle 10"/>
          <p:cNvSpPr/>
          <p:nvPr/>
        </p:nvSpPr>
        <p:spPr>
          <a:xfrm>
            <a:off x="331786" y="6570960"/>
            <a:ext cx="4007636" cy="230832"/>
          </a:xfrm>
          <a:prstGeom prst="rect">
            <a:avLst/>
          </a:prstGeom>
        </p:spPr>
        <p:txBody>
          <a:bodyPr wrap="square">
            <a:spAutoFit/>
          </a:bodyPr>
          <a:lstStyle/>
          <a:p>
            <a:r>
              <a:rPr lang="en-US" sz="900" err="1">
                <a:solidFill>
                  <a:srgbClr val="5B5470"/>
                </a:solidFill>
                <a:latin typeface="Calibri" pitchFamily="34" charset="0"/>
                <a:ea typeface="Calibri" pitchFamily="34" charset="-122"/>
                <a:cs typeface="Calibri" pitchFamily="34" charset="-120"/>
              </a:rPr>
              <a:t>Innomatics</a:t>
            </a:r>
            <a:r>
              <a:rPr lang="en-US" sz="900">
                <a:solidFill>
                  <a:srgbClr val="5B5470"/>
                </a:solidFill>
                <a:latin typeface="Calibri" pitchFamily="34" charset="0"/>
                <a:ea typeface="Calibri" pitchFamily="34" charset="-122"/>
                <a:cs typeface="Calibri" pitchFamily="34" charset="-120"/>
              </a:rPr>
              <a:t> Research Labs  |  EDA Project</a:t>
            </a:r>
            <a:endParaRPr lang="en-US" sz="900"/>
          </a:p>
        </p:txBody>
      </p:sp>
      <p:sp>
        <p:nvSpPr>
          <p:cNvPr id="12" name="Rectangle 11"/>
          <p:cNvSpPr/>
          <p:nvPr/>
        </p:nvSpPr>
        <p:spPr>
          <a:xfrm>
            <a:off x="11538899" y="6570960"/>
            <a:ext cx="300082" cy="230832"/>
          </a:xfrm>
          <a:prstGeom prst="rect">
            <a:avLst/>
          </a:prstGeom>
        </p:spPr>
        <p:txBody>
          <a:bodyPr wrap="none">
            <a:spAutoFit/>
          </a:bodyPr>
          <a:lstStyle/>
          <a:p>
            <a:pPr algn="r"/>
            <a:r>
              <a:rPr lang="en-US" sz="900">
                <a:solidFill>
                  <a:srgbClr val="5B5470"/>
                </a:solidFill>
                <a:latin typeface="Calibri" pitchFamily="34" charset="0"/>
                <a:ea typeface="Calibri" pitchFamily="34" charset="-122"/>
                <a:cs typeface="Calibri" pitchFamily="34" charset="-120"/>
              </a:rPr>
              <a:t>10</a:t>
            </a:r>
            <a:endParaRPr lang="en-US" sz="900"/>
          </a:p>
        </p:txBody>
      </p:sp>
    </p:spTree>
    <p:extLst>
      <p:ext uri="{BB962C8B-B14F-4D97-AF65-F5344CB8AC3E}">
        <p14:creationId xmlns:p14="http://schemas.microsoft.com/office/powerpoint/2010/main" val="996289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 y="0"/>
            <a:ext cx="12188761" cy="6859822"/>
          </a:xfrm>
          <a:prstGeom prst="rect">
            <a:avLst/>
          </a:prstGeom>
        </p:spPr>
      </p:pic>
    </p:spTree>
    <p:extLst>
      <p:ext uri="{BB962C8B-B14F-4D97-AF65-F5344CB8AC3E}">
        <p14:creationId xmlns:p14="http://schemas.microsoft.com/office/powerpoint/2010/main" val="2732987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EDA · UNIVARIATE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a:solidFill>
                  <a:srgbClr val="1B1B2F"/>
                </a:solidFill>
                <a:latin typeface="Cambria" pitchFamily="34" charset="0"/>
                <a:ea typeface="Cambria" pitchFamily="34" charset="-122"/>
                <a:cs typeface="Cambria" pitchFamily="34" charset="-120"/>
              </a:rPr>
              <a:t>Weekly Hours Spent Using GenAI Tools</a:t>
            </a:r>
            <a:endParaRPr lang="en-US" sz="2200"/>
          </a:p>
        </p:txBody>
      </p:sp>
      <p:sp>
        <p:nvSpPr>
          <p:cNvPr id="5" name="Shape 3"/>
          <p:cNvSpPr/>
          <p:nvPr/>
        </p:nvSpPr>
        <p:spPr>
          <a:xfrm>
            <a:off x="411480" y="1371600"/>
            <a:ext cx="5825819"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pic>
        <p:nvPicPr>
          <p:cNvPr id="6" name="Image 0" descr="/home/claude/images/cell_66.png"/>
          <p:cNvPicPr>
            <a:picLocks noChangeAspect="1"/>
          </p:cNvPicPr>
          <p:nvPr/>
        </p:nvPicPr>
        <p:blipFill>
          <a:blip r:embed="rId3"/>
          <a:stretch>
            <a:fillRect/>
          </a:stretch>
        </p:blipFill>
        <p:spPr>
          <a:xfrm>
            <a:off x="548640" y="1508760"/>
            <a:ext cx="5551499" cy="4297680"/>
          </a:xfrm>
          <a:prstGeom prst="rect">
            <a:avLst/>
          </a:prstGeom>
        </p:spPr>
      </p:pic>
      <p:sp>
        <p:nvSpPr>
          <p:cNvPr id="7" name="Shape 4"/>
          <p:cNvSpPr/>
          <p:nvPr/>
        </p:nvSpPr>
        <p:spPr>
          <a:xfrm>
            <a:off x="7040880" y="146304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235200"/>
            <a:ext cx="4233672" cy="188468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This histogram represents the weekly hours students spend using Generative AI.</a:t>
            </a:r>
          </a:p>
          <a:p>
            <a:pPr marL="285750" indent="-285750">
              <a:buFont typeface="Arial" panose="020B0604020202020204" pitchFamily="34" charset="0"/>
              <a:buChar char="•"/>
            </a:pPr>
            <a:r>
              <a:rPr lang="en-US" sz="1600" dirty="0"/>
              <a:t>We can observe that </a:t>
            </a:r>
            <a:r>
              <a:rPr lang="en-US" sz="1600" b="1" dirty="0"/>
              <a:t>around 3,300 to 3,400 students</a:t>
            </a:r>
            <a:r>
              <a:rPr lang="en-US" sz="1600" dirty="0"/>
              <a:t> use AI for approximately </a:t>
            </a:r>
            <a:r>
              <a:rPr lang="en-US" sz="1600" b="1" dirty="0"/>
              <a:t>5 to 6 hours per week</a:t>
            </a:r>
            <a:r>
              <a:rPr lang="en-US" sz="1600" dirty="0"/>
              <a:t>.</a:t>
            </a:r>
          </a:p>
          <a:p>
            <a:pPr marL="285750" indent="-285750">
              <a:buFont typeface="Arial" panose="020B0604020202020204" pitchFamily="34" charset="0"/>
              <a:buChar char="•"/>
            </a:pPr>
            <a:r>
              <a:rPr lang="en-US" sz="1600" dirty="0"/>
              <a:t>As the number of hours increases, the number of students gradually decreases.</a:t>
            </a:r>
          </a:p>
          <a:p>
            <a:pPr marL="285750" indent="-285750">
              <a:buFont typeface="Arial" panose="020B0604020202020204" pitchFamily="34" charset="0"/>
              <a:buChar char="•"/>
            </a:pPr>
            <a:r>
              <a:rPr lang="en-US" sz="1600" dirty="0"/>
              <a:t>This tells us that most students use AI in moderation, while only a small number are heavy AI users.</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a:solidFill>
                  <a:srgbClr val="5B5470"/>
                </a:solidFill>
                <a:latin typeface="Calibri" pitchFamily="34" charset="0"/>
                <a:ea typeface="Calibri" pitchFamily="34" charset="-122"/>
                <a:cs typeface="Calibri" pitchFamily="34" charset="-120"/>
              </a:rPr>
              <a:t>12</a:t>
            </a:r>
            <a:endParaRPr lang="en-US" sz="9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EDA · UNIVARIATE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smtClean="0">
                <a:solidFill>
                  <a:srgbClr val="1B1B2F"/>
                </a:solidFill>
                <a:latin typeface="Cambria" pitchFamily="34" charset="0"/>
                <a:ea typeface="Cambria" pitchFamily="34" charset="-122"/>
                <a:cs typeface="Cambria" pitchFamily="34" charset="-120"/>
              </a:rPr>
              <a:t>Post-Semester </a:t>
            </a:r>
            <a:r>
              <a:rPr lang="en-US" sz="2200" b="1">
                <a:solidFill>
                  <a:srgbClr val="1B1B2F"/>
                </a:solidFill>
                <a:latin typeface="Cambria" pitchFamily="34" charset="0"/>
                <a:ea typeface="Cambria" pitchFamily="34" charset="-122"/>
                <a:cs typeface="Cambria" pitchFamily="34" charset="-120"/>
              </a:rPr>
              <a:t>GPA Distribution</a:t>
            </a:r>
            <a:endParaRPr lang="en-US" sz="2200"/>
          </a:p>
        </p:txBody>
      </p:sp>
      <p:sp>
        <p:nvSpPr>
          <p:cNvPr id="5" name="Shape 3"/>
          <p:cNvSpPr/>
          <p:nvPr/>
        </p:nvSpPr>
        <p:spPr>
          <a:xfrm>
            <a:off x="411480" y="1371600"/>
            <a:ext cx="5776868"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sp>
        <p:nvSpPr>
          <p:cNvPr id="7" name="Shape 4"/>
          <p:cNvSpPr/>
          <p:nvPr/>
        </p:nvSpPr>
        <p:spPr>
          <a:xfrm>
            <a:off x="7040880" y="150876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252980"/>
            <a:ext cx="4233672" cy="35204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This histogram shows the distribution of Post-Semester GPA.</a:t>
            </a:r>
          </a:p>
          <a:p>
            <a:pPr marL="285750" indent="-285750">
              <a:buFont typeface="Arial" panose="020B0604020202020204" pitchFamily="34" charset="0"/>
              <a:buChar char="•"/>
            </a:pPr>
            <a:r>
              <a:rPr lang="en-US" sz="1600" dirty="0"/>
              <a:t>We can observe that </a:t>
            </a:r>
            <a:r>
              <a:rPr lang="en-US" sz="1600" b="1" dirty="0"/>
              <a:t>around 3,300 to 3,400 students</a:t>
            </a:r>
            <a:r>
              <a:rPr lang="en-US" sz="1600" dirty="0"/>
              <a:t> have a GPA close to </a:t>
            </a:r>
            <a:r>
              <a:rPr lang="en-US" sz="1600" b="1" dirty="0"/>
              <a:t>3.4</a:t>
            </a:r>
            <a:r>
              <a:rPr lang="en-US" sz="1600" dirty="0"/>
              <a:t>.</a:t>
            </a:r>
          </a:p>
          <a:p>
            <a:pPr marL="285750" indent="-285750">
              <a:buFont typeface="Arial" panose="020B0604020202020204" pitchFamily="34" charset="0"/>
              <a:buChar char="•"/>
            </a:pPr>
            <a:r>
              <a:rPr lang="en-US" sz="1600" dirty="0"/>
              <a:t>This indicates that most students achieve good academic performance.</a:t>
            </a:r>
          </a:p>
          <a:p>
            <a:pPr marL="285750" indent="-285750">
              <a:buFont typeface="Arial" panose="020B0604020202020204" pitchFamily="34" charset="0"/>
              <a:buChar char="•"/>
            </a:pPr>
            <a:r>
              <a:rPr lang="en-US" sz="1600" dirty="0"/>
              <a:t>Very few students have extremely low or extremely high GPAs.</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ea typeface="Calibri" pitchFamily="34" charset="-122"/>
                <a:cs typeface="Calibri" pitchFamily="34" charset="-120"/>
              </a:rPr>
              <a:t>13</a:t>
            </a:r>
            <a:endParaRPr lang="en-US" sz="90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435608"/>
            <a:ext cx="5611653" cy="437083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EDA · UNIVARIATE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a:solidFill>
                  <a:srgbClr val="1B1B2F"/>
                </a:solidFill>
                <a:latin typeface="Cambria" pitchFamily="34" charset="0"/>
                <a:ea typeface="Cambria" pitchFamily="34" charset="-122"/>
                <a:cs typeface="Cambria" pitchFamily="34" charset="-120"/>
              </a:rPr>
              <a:t>Anxiety Level During Exams</a:t>
            </a:r>
            <a:endParaRPr lang="en-US" sz="2200"/>
          </a:p>
        </p:txBody>
      </p:sp>
      <p:sp>
        <p:nvSpPr>
          <p:cNvPr id="5" name="Shape 3"/>
          <p:cNvSpPr/>
          <p:nvPr/>
        </p:nvSpPr>
        <p:spPr>
          <a:xfrm>
            <a:off x="411480" y="1371600"/>
            <a:ext cx="5776868"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pic>
        <p:nvPicPr>
          <p:cNvPr id="6" name="Image 0" descr="/home/claude/images/cell_72.png"/>
          <p:cNvPicPr>
            <a:picLocks noChangeAspect="1"/>
          </p:cNvPicPr>
          <p:nvPr/>
        </p:nvPicPr>
        <p:blipFill>
          <a:blip r:embed="rId3"/>
          <a:stretch>
            <a:fillRect/>
          </a:stretch>
        </p:blipFill>
        <p:spPr>
          <a:xfrm>
            <a:off x="548640" y="1508760"/>
            <a:ext cx="5502548" cy="4297680"/>
          </a:xfrm>
          <a:prstGeom prst="rect">
            <a:avLst/>
          </a:prstGeom>
        </p:spPr>
      </p:pic>
      <p:sp>
        <p:nvSpPr>
          <p:cNvPr id="7" name="Shape 4"/>
          <p:cNvSpPr/>
          <p:nvPr/>
        </p:nvSpPr>
        <p:spPr>
          <a:xfrm>
            <a:off x="7040880" y="150876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189480"/>
            <a:ext cx="4233672" cy="35204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This bar chart represents students' anxiety levels during exams.</a:t>
            </a:r>
          </a:p>
          <a:p>
            <a:pPr marL="285750" indent="-285750">
              <a:buFont typeface="Arial" panose="020B0604020202020204" pitchFamily="34" charset="0"/>
              <a:buChar char="•"/>
            </a:pPr>
            <a:r>
              <a:rPr lang="en-US" sz="1600" dirty="0"/>
              <a:t>We can observe that </a:t>
            </a:r>
            <a:r>
              <a:rPr lang="en-US" sz="1600" b="1" dirty="0"/>
              <a:t>approximately 6,800 to 6,900 students</a:t>
            </a:r>
            <a:r>
              <a:rPr lang="en-US" sz="1600" dirty="0"/>
              <a:t> fall into </a:t>
            </a:r>
            <a:r>
              <a:rPr lang="en-US" sz="1600" b="1" dirty="0"/>
              <a:t>Anxiety Level 4</a:t>
            </a:r>
            <a:r>
              <a:rPr lang="en-US" sz="1600" dirty="0"/>
              <a:t>, which is the highest level.</a:t>
            </a:r>
          </a:p>
          <a:p>
            <a:pPr marL="285750" indent="-285750">
              <a:buFont typeface="Arial" panose="020B0604020202020204" pitchFamily="34" charset="0"/>
              <a:buChar char="•"/>
            </a:pPr>
            <a:r>
              <a:rPr lang="en-US" sz="1600" dirty="0"/>
              <a:t>This tells us that exam stress is common among students, regardless of AI usage.</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ea typeface="Calibri" pitchFamily="34" charset="-122"/>
                <a:cs typeface="Calibri" pitchFamily="34" charset="-120"/>
              </a:rPr>
              <a:t>14</a:t>
            </a:r>
            <a:endParaRPr lang="en-US" sz="9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EDA · UNIVARIATE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a:solidFill>
                  <a:srgbClr val="1B1B2F"/>
                </a:solidFill>
                <a:latin typeface="Cambria" pitchFamily="34" charset="0"/>
                <a:ea typeface="Cambria" pitchFamily="34" charset="-122"/>
                <a:cs typeface="Cambria" pitchFamily="34" charset="-120"/>
              </a:rPr>
              <a:t>Burnout Risk Level</a:t>
            </a:r>
            <a:endParaRPr lang="en-US" sz="2200"/>
          </a:p>
        </p:txBody>
      </p:sp>
      <p:sp>
        <p:nvSpPr>
          <p:cNvPr id="5" name="Shape 3"/>
          <p:cNvSpPr/>
          <p:nvPr/>
        </p:nvSpPr>
        <p:spPr>
          <a:xfrm>
            <a:off x="411480" y="1371600"/>
            <a:ext cx="5862253"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pic>
        <p:nvPicPr>
          <p:cNvPr id="6" name="Image 0" descr="/home/claude/images/cell_74.png"/>
          <p:cNvPicPr>
            <a:picLocks noChangeAspect="1"/>
          </p:cNvPicPr>
          <p:nvPr/>
        </p:nvPicPr>
        <p:blipFill>
          <a:blip r:embed="rId3"/>
          <a:stretch>
            <a:fillRect/>
          </a:stretch>
        </p:blipFill>
        <p:spPr>
          <a:xfrm>
            <a:off x="548640" y="1508760"/>
            <a:ext cx="5587933" cy="4297680"/>
          </a:xfrm>
          <a:prstGeom prst="rect">
            <a:avLst/>
          </a:prstGeom>
        </p:spPr>
      </p:pic>
      <p:sp>
        <p:nvSpPr>
          <p:cNvPr id="7" name="Shape 4"/>
          <p:cNvSpPr/>
          <p:nvPr/>
        </p:nvSpPr>
        <p:spPr>
          <a:xfrm>
            <a:off x="7040880" y="150876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171700"/>
            <a:ext cx="4233672" cy="35204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This graph shows students' burnout risk levels.</a:t>
            </a:r>
          </a:p>
          <a:p>
            <a:pPr marL="285750" indent="-285750">
              <a:buFont typeface="Arial" panose="020B0604020202020204" pitchFamily="34" charset="0"/>
              <a:buChar char="•"/>
            </a:pPr>
            <a:r>
              <a:rPr lang="en-US" sz="1600" dirty="0"/>
              <a:t>We can observe that </a:t>
            </a:r>
            <a:r>
              <a:rPr lang="en-US" sz="1600" b="1" dirty="0"/>
              <a:t>more than 14,000 students</a:t>
            </a:r>
            <a:r>
              <a:rPr lang="en-US" sz="1600" dirty="0"/>
              <a:t> belong to the </a:t>
            </a:r>
            <a:r>
              <a:rPr lang="en-US" sz="1600" b="1" dirty="0"/>
              <a:t>Medium Burnout</a:t>
            </a:r>
            <a:r>
              <a:rPr lang="en-US" sz="1600" dirty="0"/>
              <a:t> category.</a:t>
            </a:r>
          </a:p>
          <a:p>
            <a:pPr marL="285750" indent="-285750">
              <a:buFont typeface="Arial" panose="020B0604020202020204" pitchFamily="34" charset="0"/>
              <a:buChar char="•"/>
            </a:pPr>
            <a:r>
              <a:rPr lang="en-US" sz="1600" dirty="0"/>
              <a:t>This is much higher than the Low and High categories.</a:t>
            </a:r>
          </a:p>
          <a:p>
            <a:pPr marL="285750" indent="-285750">
              <a:buFont typeface="Arial" panose="020B0604020202020204" pitchFamily="34" charset="0"/>
              <a:buChar char="•"/>
            </a:pPr>
            <a:r>
              <a:rPr lang="en-US" sz="1600" dirty="0"/>
              <a:t>Therefore, moderate burnout is the most common among students.</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ea typeface="Calibri" pitchFamily="34" charset="-122"/>
                <a:cs typeface="Calibri" pitchFamily="34" charset="-120"/>
              </a:rPr>
              <a:t>15</a:t>
            </a:r>
            <a:endParaRPr lang="en-US" sz="9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EDA · BIVARIATE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a:solidFill>
                  <a:srgbClr val="1B1B2F"/>
                </a:solidFill>
                <a:latin typeface="Cambria" pitchFamily="34" charset="0"/>
                <a:ea typeface="Cambria" pitchFamily="34" charset="-122"/>
                <a:cs typeface="Cambria" pitchFamily="34" charset="-120"/>
              </a:rPr>
              <a:t>Weekly GenAI Hours vs. Post-Semester GPA</a:t>
            </a:r>
            <a:endParaRPr lang="en-US" sz="2200"/>
          </a:p>
        </p:txBody>
      </p:sp>
      <p:sp>
        <p:nvSpPr>
          <p:cNvPr id="5" name="Shape 3"/>
          <p:cNvSpPr/>
          <p:nvPr/>
        </p:nvSpPr>
        <p:spPr>
          <a:xfrm>
            <a:off x="411480" y="1371600"/>
            <a:ext cx="5833791"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pic>
        <p:nvPicPr>
          <p:cNvPr id="6" name="Image 0" descr="/home/claude/images/cell_80.png"/>
          <p:cNvPicPr>
            <a:picLocks noChangeAspect="1"/>
          </p:cNvPicPr>
          <p:nvPr/>
        </p:nvPicPr>
        <p:blipFill>
          <a:blip r:embed="rId3"/>
          <a:stretch>
            <a:fillRect/>
          </a:stretch>
        </p:blipFill>
        <p:spPr>
          <a:xfrm>
            <a:off x="548640" y="1508760"/>
            <a:ext cx="5559471" cy="4297680"/>
          </a:xfrm>
          <a:prstGeom prst="rect">
            <a:avLst/>
          </a:prstGeom>
        </p:spPr>
      </p:pic>
      <p:sp>
        <p:nvSpPr>
          <p:cNvPr id="7" name="Shape 4"/>
          <p:cNvSpPr/>
          <p:nvPr/>
        </p:nvSpPr>
        <p:spPr>
          <a:xfrm>
            <a:off x="7040880" y="150876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103120"/>
            <a:ext cx="4233672" cy="35204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This scatter plot compares </a:t>
            </a:r>
            <a:r>
              <a:rPr lang="en-US" sz="1600" b="1" dirty="0"/>
              <a:t>Weekly </a:t>
            </a:r>
            <a:r>
              <a:rPr lang="en-US" sz="1600" b="1" dirty="0" err="1"/>
              <a:t>GenAI</a:t>
            </a:r>
            <a:r>
              <a:rPr lang="en-US" sz="1600" b="1" dirty="0"/>
              <a:t> Hours</a:t>
            </a:r>
            <a:r>
              <a:rPr lang="en-US" sz="1600" dirty="0"/>
              <a:t> with </a:t>
            </a:r>
            <a:r>
              <a:rPr lang="en-US" sz="1600" b="1" dirty="0"/>
              <a:t>Post-Semester GPA</a:t>
            </a:r>
            <a:r>
              <a:rPr lang="en-US" sz="1600" dirty="0"/>
              <a:t>.</a:t>
            </a:r>
          </a:p>
          <a:p>
            <a:pPr marL="285750" indent="-285750">
              <a:buFont typeface="Arial" panose="020B0604020202020204" pitchFamily="34" charset="0"/>
              <a:buChar char="•"/>
            </a:pPr>
            <a:r>
              <a:rPr lang="en-US" sz="1600" dirty="0"/>
              <a:t>We can observe that students who use AI for around </a:t>
            </a:r>
            <a:r>
              <a:rPr lang="en-US" sz="1600" b="1" dirty="0"/>
              <a:t>40 hours</a:t>
            </a:r>
            <a:r>
              <a:rPr lang="en-US" sz="1600" dirty="0"/>
              <a:t> as well as students who use AI for around </a:t>
            </a:r>
            <a:r>
              <a:rPr lang="en-US" sz="1600" b="1" dirty="0"/>
              <a:t>120 hours</a:t>
            </a:r>
            <a:r>
              <a:rPr lang="en-US" sz="1600" dirty="0"/>
              <a:t> are able to achieve GPAs close to </a:t>
            </a:r>
            <a:r>
              <a:rPr lang="en-US" sz="1600" b="1" dirty="0"/>
              <a:t>4.0</a:t>
            </a:r>
            <a:r>
              <a:rPr lang="en-US" sz="1600" dirty="0"/>
              <a:t>.</a:t>
            </a:r>
          </a:p>
          <a:p>
            <a:pPr marL="285750" indent="-285750">
              <a:buFont typeface="Arial" panose="020B0604020202020204" pitchFamily="34" charset="0"/>
              <a:buChar char="•"/>
            </a:pPr>
            <a:r>
              <a:rPr lang="en-US" sz="1600" dirty="0"/>
              <a:t>Since the points are spread across the graph, there is no clear increasing or decreasing trend.</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ea typeface="Calibri" pitchFamily="34" charset="-122"/>
                <a:cs typeface="Calibri" pitchFamily="34" charset="-120"/>
              </a:rPr>
              <a:t>16</a:t>
            </a:r>
            <a:endParaRPr lang="en-US" sz="90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EDA · BIVARIATE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a:solidFill>
                  <a:srgbClr val="1B1B2F"/>
                </a:solidFill>
                <a:latin typeface="Cambria" pitchFamily="34" charset="0"/>
                <a:ea typeface="Cambria" pitchFamily="34" charset="-122"/>
                <a:cs typeface="Cambria" pitchFamily="34" charset="-120"/>
              </a:rPr>
              <a:t>Weekly GenAI Hours vs. Traditional Study Hours</a:t>
            </a:r>
            <a:endParaRPr lang="en-US" sz="2200"/>
          </a:p>
        </p:txBody>
      </p:sp>
      <p:sp>
        <p:nvSpPr>
          <p:cNvPr id="5" name="Shape 3"/>
          <p:cNvSpPr/>
          <p:nvPr/>
        </p:nvSpPr>
        <p:spPr>
          <a:xfrm>
            <a:off x="411480" y="1371600"/>
            <a:ext cx="5966611"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pic>
        <p:nvPicPr>
          <p:cNvPr id="6" name="Image 0" descr="/home/claude/images/cell_82.png"/>
          <p:cNvPicPr>
            <a:picLocks noChangeAspect="1"/>
          </p:cNvPicPr>
          <p:nvPr/>
        </p:nvPicPr>
        <p:blipFill>
          <a:blip r:embed="rId3"/>
          <a:stretch>
            <a:fillRect/>
          </a:stretch>
        </p:blipFill>
        <p:spPr>
          <a:xfrm>
            <a:off x="548640" y="1508760"/>
            <a:ext cx="5692291" cy="4297680"/>
          </a:xfrm>
          <a:prstGeom prst="rect">
            <a:avLst/>
          </a:prstGeom>
        </p:spPr>
      </p:pic>
      <p:sp>
        <p:nvSpPr>
          <p:cNvPr id="7" name="Shape 4"/>
          <p:cNvSpPr/>
          <p:nvPr/>
        </p:nvSpPr>
        <p:spPr>
          <a:xfrm>
            <a:off x="7040880" y="150876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103120"/>
            <a:ext cx="4233672" cy="35204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This scatter plot compares </a:t>
            </a:r>
            <a:r>
              <a:rPr lang="en-US" sz="1600" b="1" dirty="0"/>
              <a:t>Weekly </a:t>
            </a:r>
            <a:r>
              <a:rPr lang="en-US" sz="1600" b="1" dirty="0" err="1"/>
              <a:t>GenAI</a:t>
            </a:r>
            <a:r>
              <a:rPr lang="en-US" sz="1600" b="1" dirty="0"/>
              <a:t> Hours</a:t>
            </a:r>
            <a:r>
              <a:rPr lang="en-US" sz="1600" dirty="0"/>
              <a:t> with </a:t>
            </a:r>
            <a:r>
              <a:rPr lang="en-US" sz="1600" b="1" dirty="0"/>
              <a:t>Traditional Study Hours</a:t>
            </a:r>
            <a:r>
              <a:rPr lang="en-US" sz="1600" dirty="0"/>
              <a:t>.</a:t>
            </a:r>
          </a:p>
          <a:p>
            <a:pPr marL="285750" indent="-285750">
              <a:buFont typeface="Arial" panose="020B0604020202020204" pitchFamily="34" charset="0"/>
              <a:buChar char="•"/>
            </a:pPr>
            <a:r>
              <a:rPr lang="en-US" sz="1600" dirty="0"/>
              <a:t>From this graph, we can identify </a:t>
            </a:r>
            <a:r>
              <a:rPr lang="en-US" sz="1600" b="1" dirty="0"/>
              <a:t>three groups of students</a:t>
            </a:r>
            <a:r>
              <a:rPr lang="en-US" sz="1600" dirty="0"/>
              <a:t>.</a:t>
            </a:r>
          </a:p>
          <a:p>
            <a:pPr marL="285750" indent="-285750">
              <a:buFont typeface="Arial" panose="020B0604020202020204" pitchFamily="34" charset="0"/>
              <a:buChar char="•"/>
            </a:pPr>
            <a:r>
              <a:rPr lang="en-US" sz="1600" dirty="0"/>
              <a:t>The first group spends around </a:t>
            </a:r>
            <a:r>
              <a:rPr lang="en-US" sz="1600" b="1" dirty="0"/>
              <a:t>40 hours</a:t>
            </a:r>
            <a:r>
              <a:rPr lang="en-US" sz="1600" dirty="0"/>
              <a:t> on both AI and traditional study, showing a balanced approach.</a:t>
            </a:r>
          </a:p>
          <a:p>
            <a:pPr marL="285750" indent="-285750">
              <a:buFont typeface="Arial" panose="020B0604020202020204" pitchFamily="34" charset="0"/>
              <a:buChar char="•"/>
            </a:pPr>
            <a:r>
              <a:rPr lang="en-US" sz="1600" dirty="0"/>
              <a:t>The second group spends more time on AI and less on traditional study.</a:t>
            </a:r>
          </a:p>
          <a:p>
            <a:pPr marL="285750" indent="-285750">
              <a:buFont typeface="Arial" panose="020B0604020202020204" pitchFamily="34" charset="0"/>
              <a:buChar char="•"/>
            </a:pPr>
            <a:r>
              <a:rPr lang="en-US" sz="1600" dirty="0"/>
              <a:t>The third group spends more time on traditional study and less on AI.</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ea typeface="Calibri" pitchFamily="34" charset="-122"/>
                <a:cs typeface="Calibri" pitchFamily="34" charset="-120"/>
              </a:rPr>
              <a:t>17</a:t>
            </a:r>
            <a:endParaRPr lang="en-US" sz="9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EDA · BIVARIATE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a:solidFill>
                  <a:srgbClr val="1B1B2F"/>
                </a:solidFill>
                <a:latin typeface="Cambria" pitchFamily="34" charset="0"/>
                <a:ea typeface="Cambria" pitchFamily="34" charset="-122"/>
                <a:cs typeface="Cambria" pitchFamily="34" charset="-120"/>
              </a:rPr>
              <a:t>Major Category vs. Post-Semester GPA</a:t>
            </a:r>
            <a:endParaRPr lang="en-US" sz="2200"/>
          </a:p>
        </p:txBody>
      </p:sp>
      <p:sp>
        <p:nvSpPr>
          <p:cNvPr id="5" name="Shape 3"/>
          <p:cNvSpPr/>
          <p:nvPr/>
        </p:nvSpPr>
        <p:spPr>
          <a:xfrm>
            <a:off x="411480" y="1371600"/>
            <a:ext cx="5653535"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pic>
        <p:nvPicPr>
          <p:cNvPr id="6" name="Image 0" descr="/home/claude/images/cell_85.png"/>
          <p:cNvPicPr>
            <a:picLocks noChangeAspect="1"/>
          </p:cNvPicPr>
          <p:nvPr/>
        </p:nvPicPr>
        <p:blipFill>
          <a:blip r:embed="rId3"/>
          <a:stretch>
            <a:fillRect/>
          </a:stretch>
        </p:blipFill>
        <p:spPr>
          <a:xfrm>
            <a:off x="548640" y="1508760"/>
            <a:ext cx="5379215" cy="4297680"/>
          </a:xfrm>
          <a:prstGeom prst="rect">
            <a:avLst/>
          </a:prstGeom>
        </p:spPr>
      </p:pic>
      <p:sp>
        <p:nvSpPr>
          <p:cNvPr id="7" name="Shape 4"/>
          <p:cNvSpPr/>
          <p:nvPr/>
        </p:nvSpPr>
        <p:spPr>
          <a:xfrm>
            <a:off x="7040880" y="150876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103120"/>
            <a:ext cx="4233672" cy="35204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This graph compares different academic majors with their average </a:t>
            </a:r>
            <a:r>
              <a:rPr lang="en-US" sz="1600" b="1" dirty="0"/>
              <a:t>Post-Semester GPA</a:t>
            </a:r>
            <a:r>
              <a:rPr lang="en-US" sz="1600" dirty="0"/>
              <a:t>.</a:t>
            </a:r>
          </a:p>
          <a:p>
            <a:pPr marL="285750" indent="-285750">
              <a:buFont typeface="Arial" panose="020B0604020202020204" pitchFamily="34" charset="0"/>
              <a:buChar char="•"/>
            </a:pPr>
            <a:r>
              <a:rPr lang="en-US" sz="1600" dirty="0"/>
              <a:t>We can observe that almost every major has an average GPA between </a:t>
            </a:r>
            <a:r>
              <a:rPr lang="en-US" sz="1600" b="1" dirty="0"/>
              <a:t>3.0 and 3.5</a:t>
            </a:r>
            <a:r>
              <a:rPr lang="en-US" sz="1600" dirty="0"/>
              <a:t>.</a:t>
            </a:r>
          </a:p>
          <a:p>
            <a:pPr marL="285750" indent="-285750">
              <a:buFont typeface="Arial" panose="020B0604020202020204" pitchFamily="34" charset="0"/>
              <a:buChar char="•"/>
            </a:pPr>
            <a:r>
              <a:rPr lang="en-US" sz="1600" dirty="0"/>
              <a:t>Since the GPA range is similar across all majors, we can conclude that academic performance is not strongly influenced by the student's field of study.</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cs typeface="Calibri" pitchFamily="34" charset="-120"/>
              </a:rPr>
              <a:t>18</a:t>
            </a:r>
            <a:endParaRPr lang="en-US" sz="90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EDA · BIVARIATE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a:solidFill>
                  <a:srgbClr val="1B1B2F"/>
                </a:solidFill>
                <a:latin typeface="Cambria" pitchFamily="34" charset="0"/>
                <a:ea typeface="Cambria" pitchFamily="34" charset="-122"/>
                <a:cs typeface="Cambria" pitchFamily="34" charset="-120"/>
              </a:rPr>
              <a:t>Paid Subscription vs. GenAI Hours</a:t>
            </a:r>
            <a:endParaRPr lang="en-US" sz="2200"/>
          </a:p>
        </p:txBody>
      </p:sp>
      <p:sp>
        <p:nvSpPr>
          <p:cNvPr id="5" name="Shape 3"/>
          <p:cNvSpPr/>
          <p:nvPr/>
        </p:nvSpPr>
        <p:spPr>
          <a:xfrm>
            <a:off x="411480" y="1371600"/>
            <a:ext cx="5615587"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pic>
        <p:nvPicPr>
          <p:cNvPr id="6" name="Image 0" descr="/home/claude/images/cell_87.png"/>
          <p:cNvPicPr>
            <a:picLocks noChangeAspect="1"/>
          </p:cNvPicPr>
          <p:nvPr/>
        </p:nvPicPr>
        <p:blipFill>
          <a:blip r:embed="rId3"/>
          <a:stretch>
            <a:fillRect/>
          </a:stretch>
        </p:blipFill>
        <p:spPr>
          <a:xfrm>
            <a:off x="548640" y="1508760"/>
            <a:ext cx="5341267" cy="4297680"/>
          </a:xfrm>
          <a:prstGeom prst="rect">
            <a:avLst/>
          </a:prstGeom>
        </p:spPr>
      </p:pic>
      <p:sp>
        <p:nvSpPr>
          <p:cNvPr id="7" name="Shape 4"/>
          <p:cNvSpPr/>
          <p:nvPr/>
        </p:nvSpPr>
        <p:spPr>
          <a:xfrm>
            <a:off x="7040880" y="150876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084070"/>
            <a:ext cx="4233672" cy="35204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This graph compares students with </a:t>
            </a:r>
            <a:r>
              <a:rPr lang="en-US" sz="1600" b="1" dirty="0"/>
              <a:t>paid AI subscriptions</a:t>
            </a:r>
            <a:r>
              <a:rPr lang="en-US" sz="1600" dirty="0"/>
              <a:t> and those using </a:t>
            </a:r>
            <a:r>
              <a:rPr lang="en-US" sz="1600" b="1" dirty="0"/>
              <a:t>free AI tools</a:t>
            </a:r>
            <a:r>
              <a:rPr lang="en-US" sz="1600" dirty="0"/>
              <a:t>.</a:t>
            </a:r>
          </a:p>
          <a:p>
            <a:pPr marL="285750" indent="-285750">
              <a:buFont typeface="Arial" panose="020B0604020202020204" pitchFamily="34" charset="0"/>
              <a:buChar char="•"/>
            </a:pPr>
            <a:r>
              <a:rPr lang="en-US" sz="1600" dirty="0"/>
              <a:t>We can observe that students with paid subscriptions spend </a:t>
            </a:r>
            <a:r>
              <a:rPr lang="en-US" sz="1600" b="1" dirty="0"/>
              <a:t>more average hours per week</a:t>
            </a:r>
            <a:r>
              <a:rPr lang="en-US" sz="1600" dirty="0"/>
              <a:t> using Generative AI compared to students using free versions.</a:t>
            </a:r>
          </a:p>
          <a:p>
            <a:pPr marL="285750" indent="-285750">
              <a:buFont typeface="Arial" panose="020B0604020202020204" pitchFamily="34" charset="0"/>
              <a:buChar char="•"/>
            </a:pPr>
            <a:r>
              <a:rPr lang="en-US" sz="1600" dirty="0"/>
              <a:t>This indicates that paid users tend to rely more on AI tools</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cs typeface="Calibri" pitchFamily="34" charset="-120"/>
              </a:rPr>
              <a:t>19</a:t>
            </a:r>
            <a:endParaRPr lang="en-US" sz="9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smtClean="0">
                <a:solidFill>
                  <a:srgbClr val="6C4AB6"/>
                </a:solidFill>
                <a:latin typeface="Calibri" pitchFamily="34" charset="0"/>
                <a:ea typeface="Calibri" pitchFamily="34" charset="-122"/>
                <a:cs typeface="Calibri" pitchFamily="34" charset="-120"/>
              </a:rPr>
              <a:t>EDA · BIVARIATE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a:solidFill>
                  <a:srgbClr val="1B1B2F"/>
                </a:solidFill>
                <a:latin typeface="Cambria" pitchFamily="34" charset="0"/>
                <a:ea typeface="Cambria" pitchFamily="34" charset="-122"/>
                <a:cs typeface="Cambria" pitchFamily="34" charset="-120"/>
              </a:rPr>
              <a:t>Major Category vs. Burnout Risk Level</a:t>
            </a:r>
            <a:endParaRPr lang="en-US" sz="2200"/>
          </a:p>
        </p:txBody>
      </p:sp>
      <p:sp>
        <p:nvSpPr>
          <p:cNvPr id="5" name="Shape 3"/>
          <p:cNvSpPr/>
          <p:nvPr/>
        </p:nvSpPr>
        <p:spPr>
          <a:xfrm>
            <a:off x="411480" y="1371600"/>
            <a:ext cx="5966611"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pic>
        <p:nvPicPr>
          <p:cNvPr id="6" name="Image 0" descr="/home/claude/images/cell_90.png"/>
          <p:cNvPicPr>
            <a:picLocks noChangeAspect="1"/>
          </p:cNvPicPr>
          <p:nvPr/>
        </p:nvPicPr>
        <p:blipFill>
          <a:blip r:embed="rId3"/>
          <a:stretch>
            <a:fillRect/>
          </a:stretch>
        </p:blipFill>
        <p:spPr>
          <a:xfrm>
            <a:off x="548640" y="1508760"/>
            <a:ext cx="5692291" cy="4297680"/>
          </a:xfrm>
          <a:prstGeom prst="rect">
            <a:avLst/>
          </a:prstGeom>
        </p:spPr>
      </p:pic>
      <p:sp>
        <p:nvSpPr>
          <p:cNvPr id="7" name="Shape 4"/>
          <p:cNvSpPr/>
          <p:nvPr/>
        </p:nvSpPr>
        <p:spPr>
          <a:xfrm>
            <a:off x="7040880" y="150876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103120"/>
            <a:ext cx="4233672" cy="35204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This graph compares </a:t>
            </a:r>
            <a:r>
              <a:rPr lang="en-US" sz="1600" b="1" dirty="0"/>
              <a:t>Burnout Risk Levels</a:t>
            </a:r>
            <a:r>
              <a:rPr lang="en-US" sz="1600" dirty="0"/>
              <a:t> across different academic majors.</a:t>
            </a:r>
          </a:p>
          <a:p>
            <a:pPr marL="285750" indent="-285750">
              <a:buFont typeface="Arial" panose="020B0604020202020204" pitchFamily="34" charset="0"/>
              <a:buChar char="•"/>
            </a:pPr>
            <a:r>
              <a:rPr lang="en-US" sz="1600" dirty="0"/>
              <a:t>We can observe that every major contains students with </a:t>
            </a:r>
            <a:r>
              <a:rPr lang="en-US" sz="1600" b="1" dirty="0"/>
              <a:t>Low, Medium, and High</a:t>
            </a:r>
            <a:r>
              <a:rPr lang="en-US" sz="1600" dirty="0"/>
              <a:t> burnout levels.</a:t>
            </a:r>
          </a:p>
          <a:p>
            <a:pPr marL="285750" indent="-285750">
              <a:buFont typeface="Arial" panose="020B0604020202020204" pitchFamily="34" charset="0"/>
              <a:buChar char="•"/>
            </a:pPr>
            <a:r>
              <a:rPr lang="en-US" sz="1600" dirty="0"/>
              <a:t>Among them, </a:t>
            </a:r>
            <a:r>
              <a:rPr lang="en-US" sz="1600" b="1" dirty="0"/>
              <a:t>STEM has the largest number of students in the Medium Burnout category</a:t>
            </a:r>
            <a:r>
              <a:rPr lang="en-US" sz="1600" dirty="0"/>
              <a:t>, but this is mainly because there are more STEM students in the dataset.</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ea typeface="Calibri" pitchFamily="34" charset="-122"/>
                <a:cs typeface="Calibri" pitchFamily="34" charset="-120"/>
              </a:rPr>
              <a:t>20</a:t>
            </a:r>
            <a:endParaRPr lang="en-US" sz="90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EDA · MULTIVARIATE</a:t>
            </a:r>
            <a:endParaRPr lang="en-US" sz="1900"/>
          </a:p>
        </p:txBody>
      </p:sp>
      <p:sp>
        <p:nvSpPr>
          <p:cNvPr id="4" name="Text 2"/>
          <p:cNvSpPr/>
          <p:nvPr/>
        </p:nvSpPr>
        <p:spPr>
          <a:xfrm>
            <a:off x="457200" y="822960"/>
            <a:ext cx="11274552" cy="502920"/>
          </a:xfrm>
          <a:prstGeom prst="rect">
            <a:avLst/>
          </a:prstGeom>
          <a:noFill/>
          <a:ln/>
        </p:spPr>
        <p:txBody>
          <a:bodyPr wrap="square" lIns="0" tIns="0" rIns="0" bIns="0" rtlCol="0" anchor="ctr"/>
          <a:lstStyle/>
          <a:p>
            <a:pPr marL="0" indent="0">
              <a:buNone/>
            </a:pPr>
            <a:r>
              <a:rPr lang="en-US" sz="2200" b="1">
                <a:solidFill>
                  <a:srgbClr val="1B1B2F"/>
                </a:solidFill>
                <a:latin typeface="Cambria" pitchFamily="34" charset="0"/>
                <a:ea typeface="Cambria" pitchFamily="34" charset="-122"/>
                <a:cs typeface="Cambria" pitchFamily="34" charset="-120"/>
              </a:rPr>
              <a:t>Correlation Heatmap: AI Usage vs. GPA</a:t>
            </a:r>
            <a:endParaRPr lang="en-US" sz="2200"/>
          </a:p>
        </p:txBody>
      </p:sp>
      <p:sp>
        <p:nvSpPr>
          <p:cNvPr id="5" name="Shape 3"/>
          <p:cNvSpPr/>
          <p:nvPr/>
        </p:nvSpPr>
        <p:spPr>
          <a:xfrm>
            <a:off x="411480" y="1371600"/>
            <a:ext cx="5380879" cy="4572000"/>
          </a:xfrm>
          <a:prstGeom prst="roundRect">
            <a:avLst>
              <a:gd name="adj" fmla="val 1200"/>
            </a:avLst>
          </a:prstGeom>
          <a:solidFill>
            <a:srgbClr val="FFFFFF"/>
          </a:solidFill>
          <a:ln w="12700">
            <a:solidFill>
              <a:srgbClr val="E3DEF2"/>
            </a:solidFill>
            <a:prstDash val="solid"/>
          </a:ln>
          <a:effectLst>
            <a:outerShdw blurRad="101600" dist="38100" dir="2700000" algn="bl" rotWithShape="0">
              <a:srgbClr val="1B1B2F">
                <a:alpha val="12000"/>
              </a:srgbClr>
            </a:outerShdw>
          </a:effectLst>
        </p:spPr>
      </p:sp>
      <p:pic>
        <p:nvPicPr>
          <p:cNvPr id="6" name="Image 0" descr="/home/claude/images/cell_93.png"/>
          <p:cNvPicPr>
            <a:picLocks noChangeAspect="1"/>
          </p:cNvPicPr>
          <p:nvPr/>
        </p:nvPicPr>
        <p:blipFill>
          <a:blip r:embed="rId3"/>
          <a:stretch>
            <a:fillRect/>
          </a:stretch>
        </p:blipFill>
        <p:spPr>
          <a:xfrm>
            <a:off x="548640" y="1508760"/>
            <a:ext cx="5106559" cy="4297680"/>
          </a:xfrm>
          <a:prstGeom prst="rect">
            <a:avLst/>
          </a:prstGeom>
        </p:spPr>
      </p:pic>
      <p:sp>
        <p:nvSpPr>
          <p:cNvPr id="7" name="Shape 4"/>
          <p:cNvSpPr/>
          <p:nvPr/>
        </p:nvSpPr>
        <p:spPr>
          <a:xfrm>
            <a:off x="7040880" y="1498600"/>
            <a:ext cx="4690872" cy="4297680"/>
          </a:xfrm>
          <a:prstGeom prst="roundRect">
            <a:avLst>
              <a:gd name="adj" fmla="val 1702"/>
            </a:avLst>
          </a:prstGeom>
          <a:solidFill>
            <a:srgbClr val="EDE7F9"/>
          </a:solidFill>
          <a:ln/>
        </p:spPr>
      </p:sp>
      <p:sp>
        <p:nvSpPr>
          <p:cNvPr id="8" name="Text 5"/>
          <p:cNvSpPr/>
          <p:nvPr/>
        </p:nvSpPr>
        <p:spPr>
          <a:xfrm>
            <a:off x="7269480" y="1737360"/>
            <a:ext cx="4233672" cy="320040"/>
          </a:xfrm>
          <a:prstGeom prst="rect">
            <a:avLst/>
          </a:prstGeom>
          <a:noFill/>
          <a:ln/>
        </p:spPr>
        <p:txBody>
          <a:bodyPr wrap="square" lIns="0" tIns="0" rIns="0" bIns="0" rtlCol="0" anchor="ctr"/>
          <a:lstStyle/>
          <a:p>
            <a:pPr marL="0" indent="0">
              <a:buNone/>
            </a:pPr>
            <a:r>
              <a:rPr lang="en-US" sz="1700" b="1" kern="0" spc="100">
                <a:solidFill>
                  <a:srgbClr val="6C4AB6"/>
                </a:solidFill>
                <a:latin typeface="Calibri" pitchFamily="34" charset="0"/>
                <a:ea typeface="Calibri" pitchFamily="34" charset="-122"/>
                <a:cs typeface="Calibri" pitchFamily="34" charset="-120"/>
              </a:rPr>
              <a:t>OBSERVATION</a:t>
            </a:r>
            <a:endParaRPr lang="en-US" sz="1700"/>
          </a:p>
        </p:txBody>
      </p:sp>
      <p:sp>
        <p:nvSpPr>
          <p:cNvPr id="9" name="Text 6"/>
          <p:cNvSpPr/>
          <p:nvPr/>
        </p:nvSpPr>
        <p:spPr>
          <a:xfrm>
            <a:off x="7269480" y="2103120"/>
            <a:ext cx="4233672" cy="3520440"/>
          </a:xfrm>
          <a:prstGeom prst="rect">
            <a:avLst/>
          </a:prstGeom>
          <a:noFill/>
          <a:ln/>
        </p:spPr>
        <p:txBody>
          <a:bodyPr wrap="square" lIns="0" tIns="0" rIns="0" bIns="0" rtlCol="0" anchor="t"/>
          <a:lstStyle/>
          <a:p>
            <a:pPr marL="285750" indent="-285750">
              <a:buFont typeface="Arial" panose="020B0604020202020204" pitchFamily="34" charset="0"/>
              <a:buChar char="•"/>
            </a:pPr>
            <a:r>
              <a:rPr lang="en-US" sz="1600" dirty="0"/>
              <a:t>The correlation between </a:t>
            </a:r>
            <a:r>
              <a:rPr lang="en-US" sz="1600" b="1" dirty="0"/>
              <a:t>Tool Diversity</a:t>
            </a:r>
            <a:r>
              <a:rPr lang="en-US" sz="1600" dirty="0"/>
              <a:t> and </a:t>
            </a:r>
            <a:r>
              <a:rPr lang="en-US" sz="1600" b="1" dirty="0"/>
              <a:t>Post-Semester GPA</a:t>
            </a:r>
            <a:r>
              <a:rPr lang="en-US" sz="1600" dirty="0"/>
              <a:t> is </a:t>
            </a:r>
            <a:r>
              <a:rPr lang="en-US" sz="1600" b="1" dirty="0"/>
              <a:t>0.02</a:t>
            </a:r>
            <a:r>
              <a:rPr lang="en-US" sz="1600" dirty="0"/>
              <a:t>, while the correlation between </a:t>
            </a:r>
            <a:r>
              <a:rPr lang="en-US" sz="1600" b="1" dirty="0"/>
              <a:t>Weekly </a:t>
            </a:r>
            <a:r>
              <a:rPr lang="en-US" sz="1600" b="1" dirty="0" err="1"/>
              <a:t>GenAI</a:t>
            </a:r>
            <a:r>
              <a:rPr lang="en-US" sz="1600" b="1" dirty="0"/>
              <a:t> Hours</a:t>
            </a:r>
            <a:r>
              <a:rPr lang="en-US" sz="1600" dirty="0"/>
              <a:t> and </a:t>
            </a:r>
            <a:r>
              <a:rPr lang="en-US" sz="1600" b="1" dirty="0"/>
              <a:t>Post-Semester GPA</a:t>
            </a:r>
            <a:r>
              <a:rPr lang="en-US" sz="1600" dirty="0"/>
              <a:t> is </a:t>
            </a:r>
            <a:r>
              <a:rPr lang="en-US" sz="1600" b="1" dirty="0"/>
              <a:t>-0.01</a:t>
            </a:r>
            <a:r>
              <a:rPr lang="en-US" sz="1600" dirty="0"/>
              <a:t>.</a:t>
            </a:r>
          </a:p>
          <a:p>
            <a:pPr marL="285750" indent="-285750">
              <a:buFont typeface="Arial" panose="020B0604020202020204" pitchFamily="34" charset="0"/>
              <a:buChar char="•"/>
            </a:pPr>
            <a:r>
              <a:rPr lang="en-US" sz="1600" dirty="0"/>
              <a:t>Since both values are very close to </a:t>
            </a:r>
            <a:r>
              <a:rPr lang="en-US" sz="1600" b="1" dirty="0"/>
              <a:t>zero</a:t>
            </a:r>
            <a:r>
              <a:rPr lang="en-US" sz="1600" dirty="0"/>
              <a:t>, there is almost </a:t>
            </a:r>
            <a:r>
              <a:rPr lang="en-US" sz="1600" b="1" dirty="0"/>
              <a:t>no linear relationship</a:t>
            </a:r>
            <a:r>
              <a:rPr lang="en-US" sz="1600" dirty="0"/>
              <a:t> between AI usage and students' GPA</a:t>
            </a:r>
            <a:r>
              <a:rPr lang="en-US" sz="1600" dirty="0" smtClean="0"/>
              <a:t>.</a:t>
            </a:r>
          </a:p>
          <a:p>
            <a:pPr marL="285750" indent="-285750">
              <a:buFont typeface="Arial" panose="020B0604020202020204" pitchFamily="34" charset="0"/>
              <a:buChar char="•"/>
            </a:pPr>
            <a:r>
              <a:rPr lang="en-US" sz="1600" dirty="0"/>
              <a:t>Therefore, AI usage alone does not significantly affect students' GPA. Study habits and consistency play a greater role in academic performance.</a:t>
            </a:r>
          </a:p>
        </p:txBody>
      </p:sp>
      <p:sp>
        <p:nvSpPr>
          <p:cNvPr id="10"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11"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ea typeface="Calibri" pitchFamily="34" charset="-122"/>
                <a:cs typeface="Calibri" pitchFamily="34" charset="-120"/>
              </a:rPr>
              <a:t>21</a:t>
            </a:r>
            <a:endParaRPr lang="en-US" sz="90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2377440" cy="329184"/>
          </a:xfrm>
          <a:prstGeom prst="roundRect">
            <a:avLst>
              <a:gd name="adj" fmla="val 50000"/>
            </a:avLst>
          </a:prstGeom>
          <a:solidFill>
            <a:srgbClr val="EDE7F9"/>
          </a:solidFill>
          <a:ln/>
        </p:spPr>
      </p:sp>
      <p:sp>
        <p:nvSpPr>
          <p:cNvPr id="3" name="Text 1"/>
          <p:cNvSpPr/>
          <p:nvPr/>
        </p:nvSpPr>
        <p:spPr>
          <a:xfrm>
            <a:off x="457200" y="384048"/>
            <a:ext cx="2377440" cy="329184"/>
          </a:xfrm>
          <a:prstGeom prst="rect">
            <a:avLst/>
          </a:prstGeom>
          <a:noFill/>
          <a:ln/>
        </p:spPr>
        <p:txBody>
          <a:bodyPr wrap="square" lIns="0" tIns="0" rIns="0" bIns="0" rtlCol="0" anchor="ctr"/>
          <a:lstStyle/>
          <a:p>
            <a:pPr marL="0" indent="0" algn="ctr">
              <a:buNone/>
            </a:pPr>
            <a:r>
              <a:rPr lang="en-US" sz="1900" b="1" kern="0" spc="100">
                <a:solidFill>
                  <a:srgbClr val="6C4AB6"/>
                </a:solidFill>
                <a:latin typeface="Calibri" pitchFamily="34" charset="0"/>
                <a:ea typeface="Calibri" pitchFamily="34" charset="-122"/>
                <a:cs typeface="Calibri" pitchFamily="34" charset="-120"/>
              </a:rPr>
              <a:t>REFLECTION</a:t>
            </a:r>
            <a:endParaRPr lang="en-US" sz="1900"/>
          </a:p>
        </p:txBody>
      </p:sp>
      <p:sp>
        <p:nvSpPr>
          <p:cNvPr id="4" name="Text 2"/>
          <p:cNvSpPr/>
          <p:nvPr/>
        </p:nvSpPr>
        <p:spPr>
          <a:xfrm>
            <a:off x="457200" y="777240"/>
            <a:ext cx="11274552" cy="640080"/>
          </a:xfrm>
          <a:prstGeom prst="rect">
            <a:avLst/>
          </a:prstGeom>
          <a:noFill/>
          <a:ln/>
        </p:spPr>
        <p:txBody>
          <a:bodyPr wrap="square" lIns="0" tIns="0" rIns="0" bIns="0" rtlCol="0" anchor="ctr"/>
          <a:lstStyle/>
          <a:p>
            <a:pPr marL="0" indent="0">
              <a:buNone/>
            </a:pPr>
            <a:r>
              <a:rPr lang="en-US" sz="3000" b="1" dirty="0">
                <a:solidFill>
                  <a:srgbClr val="1B1B2F"/>
                </a:solidFill>
                <a:latin typeface="Cambria" pitchFamily="34" charset="0"/>
                <a:ea typeface="Cambria" pitchFamily="34" charset="-122"/>
                <a:cs typeface="Cambria" pitchFamily="34" charset="-120"/>
              </a:rPr>
              <a:t>My Experience &amp; Challenges</a:t>
            </a:r>
            <a:endParaRPr lang="en-US" sz="3000" dirty="0"/>
          </a:p>
        </p:txBody>
      </p:sp>
      <p:sp>
        <p:nvSpPr>
          <p:cNvPr id="5" name="Shape 3"/>
          <p:cNvSpPr/>
          <p:nvPr/>
        </p:nvSpPr>
        <p:spPr>
          <a:xfrm>
            <a:off x="548640" y="1783080"/>
            <a:ext cx="5440680" cy="1920240"/>
          </a:xfrm>
          <a:prstGeom prst="roundRect">
            <a:avLst>
              <a:gd name="adj" fmla="val 3810"/>
            </a:avLst>
          </a:prstGeom>
          <a:solidFill>
            <a:srgbClr val="F7F5FC"/>
          </a:solidFill>
          <a:ln/>
          <a:effectLst>
            <a:outerShdw blurRad="101600" dist="38100" dir="2700000" algn="bl" rotWithShape="0">
              <a:srgbClr val="1B1B2F">
                <a:alpha val="12000"/>
              </a:srgbClr>
            </a:outerShdw>
          </a:effectLst>
        </p:spPr>
      </p:sp>
      <p:sp>
        <p:nvSpPr>
          <p:cNvPr id="6" name="Shape 4"/>
          <p:cNvSpPr/>
          <p:nvPr/>
        </p:nvSpPr>
        <p:spPr>
          <a:xfrm>
            <a:off x="777240" y="2011680"/>
            <a:ext cx="292608" cy="292608"/>
          </a:xfrm>
          <a:prstGeom prst="ellipse">
            <a:avLst/>
          </a:prstGeom>
          <a:solidFill>
            <a:srgbClr val="2E1F66"/>
          </a:solidFill>
          <a:ln/>
        </p:spPr>
      </p:sp>
      <p:sp>
        <p:nvSpPr>
          <p:cNvPr id="7" name="Text 5"/>
          <p:cNvSpPr/>
          <p:nvPr/>
        </p:nvSpPr>
        <p:spPr>
          <a:xfrm>
            <a:off x="1234440" y="1965960"/>
            <a:ext cx="4526280" cy="365760"/>
          </a:xfrm>
          <a:prstGeom prst="rect">
            <a:avLst/>
          </a:prstGeom>
          <a:noFill/>
          <a:ln/>
        </p:spPr>
        <p:txBody>
          <a:bodyPr wrap="square" lIns="0" tIns="0" rIns="0" bIns="0" rtlCol="0" anchor="ctr"/>
          <a:lstStyle/>
          <a:p>
            <a:pPr marL="0" indent="0">
              <a:buNone/>
            </a:pPr>
            <a:r>
              <a:rPr lang="en-US" sz="2000" b="1" dirty="0" smtClean="0">
                <a:solidFill>
                  <a:srgbClr val="1B1B2F"/>
                </a:solidFill>
                <a:latin typeface="Calibri" pitchFamily="34" charset="0"/>
                <a:ea typeface="Calibri" pitchFamily="34" charset="-122"/>
                <a:cs typeface="Calibri" pitchFamily="34" charset="-120"/>
              </a:rPr>
              <a:t>Messy Data Types</a:t>
            </a:r>
            <a:endParaRPr lang="en-US" sz="2000" dirty="0"/>
          </a:p>
        </p:txBody>
      </p:sp>
      <p:sp>
        <p:nvSpPr>
          <p:cNvPr id="8" name="Text 6"/>
          <p:cNvSpPr/>
          <p:nvPr/>
        </p:nvSpPr>
        <p:spPr>
          <a:xfrm>
            <a:off x="822960" y="2468880"/>
            <a:ext cx="4892040" cy="1051560"/>
          </a:xfrm>
          <a:prstGeom prst="rect">
            <a:avLst/>
          </a:prstGeom>
          <a:noFill/>
          <a:ln/>
        </p:spPr>
        <p:txBody>
          <a:bodyPr wrap="square" lIns="0" tIns="0" rIns="0" bIns="0" rtlCol="0" anchor="t"/>
          <a:lstStyle/>
          <a:p>
            <a:pPr marL="0" indent="0">
              <a:buNone/>
            </a:pPr>
            <a:r>
              <a:rPr lang="en-US" sz="1700" dirty="0" err="1" smtClean="0">
                <a:solidFill>
                  <a:srgbClr val="5B5470"/>
                </a:solidFill>
                <a:latin typeface="Calibri" pitchFamily="34" charset="0"/>
                <a:ea typeface="Calibri" pitchFamily="34" charset="-122"/>
                <a:cs typeface="Calibri" pitchFamily="34" charset="-120"/>
              </a:rPr>
              <a:t>Anxiety_Level_During_Exams</a:t>
            </a:r>
            <a:r>
              <a:rPr lang="en-US" sz="1700" dirty="0" smtClean="0">
                <a:solidFill>
                  <a:srgbClr val="5B5470"/>
                </a:solidFill>
                <a:latin typeface="Calibri" pitchFamily="34" charset="0"/>
                <a:ea typeface="Calibri" pitchFamily="34" charset="-122"/>
                <a:cs typeface="Calibri" pitchFamily="34" charset="-120"/>
              </a:rPr>
              <a:t> and </a:t>
            </a:r>
            <a:r>
              <a:rPr lang="en-US" sz="1700" dirty="0" err="1" smtClean="0">
                <a:solidFill>
                  <a:srgbClr val="5B5470"/>
                </a:solidFill>
                <a:latin typeface="Calibri" pitchFamily="34" charset="0"/>
                <a:ea typeface="Calibri" pitchFamily="34" charset="-122"/>
                <a:cs typeface="Calibri" pitchFamily="34" charset="-120"/>
              </a:rPr>
              <a:t>Post_Semester_GPA</a:t>
            </a:r>
            <a:r>
              <a:rPr lang="en-US" sz="1700" dirty="0" smtClean="0">
                <a:solidFill>
                  <a:srgbClr val="5B5470"/>
                </a:solidFill>
                <a:latin typeface="Calibri" pitchFamily="34" charset="0"/>
                <a:ea typeface="Calibri" pitchFamily="34" charset="-122"/>
                <a:cs typeface="Calibri" pitchFamily="34" charset="-120"/>
              </a:rPr>
              <a:t> mixed text labels ("High", "low") with numbers — required careful conversion using </a:t>
            </a:r>
            <a:r>
              <a:rPr lang="en-US" sz="1700" dirty="0" err="1" smtClean="0">
                <a:solidFill>
                  <a:srgbClr val="5B5470"/>
                </a:solidFill>
                <a:latin typeface="Calibri" pitchFamily="34" charset="0"/>
                <a:ea typeface="Calibri" pitchFamily="34" charset="-122"/>
                <a:cs typeface="Calibri" pitchFamily="34" charset="-120"/>
              </a:rPr>
              <a:t>pd.to_numeric</a:t>
            </a:r>
            <a:r>
              <a:rPr lang="en-US" sz="1700" dirty="0" smtClean="0">
                <a:solidFill>
                  <a:srgbClr val="5B5470"/>
                </a:solidFill>
                <a:latin typeface="Calibri" pitchFamily="34" charset="0"/>
                <a:ea typeface="Calibri" pitchFamily="34" charset="-122"/>
                <a:cs typeface="Calibri" pitchFamily="34" charset="-120"/>
              </a:rPr>
              <a:t>() before analysis.</a:t>
            </a:r>
            <a:endParaRPr lang="en-US" sz="1700" dirty="0"/>
          </a:p>
        </p:txBody>
      </p:sp>
      <p:sp>
        <p:nvSpPr>
          <p:cNvPr id="9" name="Shape 7"/>
          <p:cNvSpPr/>
          <p:nvPr/>
        </p:nvSpPr>
        <p:spPr>
          <a:xfrm>
            <a:off x="6263640" y="1783080"/>
            <a:ext cx="5440680" cy="1920240"/>
          </a:xfrm>
          <a:prstGeom prst="roundRect">
            <a:avLst>
              <a:gd name="adj" fmla="val 3810"/>
            </a:avLst>
          </a:prstGeom>
          <a:solidFill>
            <a:srgbClr val="F7F5FC"/>
          </a:solidFill>
          <a:ln/>
          <a:effectLst>
            <a:outerShdw blurRad="101600" dist="38100" dir="2700000" algn="bl" rotWithShape="0">
              <a:srgbClr val="1B1B2F">
                <a:alpha val="12000"/>
              </a:srgbClr>
            </a:outerShdw>
          </a:effectLst>
        </p:spPr>
      </p:sp>
      <p:sp>
        <p:nvSpPr>
          <p:cNvPr id="10" name="Shape 8"/>
          <p:cNvSpPr/>
          <p:nvPr/>
        </p:nvSpPr>
        <p:spPr>
          <a:xfrm>
            <a:off x="6492240" y="2011680"/>
            <a:ext cx="292608" cy="292608"/>
          </a:xfrm>
          <a:prstGeom prst="ellipse">
            <a:avLst/>
          </a:prstGeom>
          <a:solidFill>
            <a:srgbClr val="6C4AB6"/>
          </a:solidFill>
          <a:ln/>
        </p:spPr>
      </p:sp>
      <p:sp>
        <p:nvSpPr>
          <p:cNvPr id="11" name="Text 9"/>
          <p:cNvSpPr/>
          <p:nvPr/>
        </p:nvSpPr>
        <p:spPr>
          <a:xfrm>
            <a:off x="6949440" y="1965960"/>
            <a:ext cx="4526280" cy="365760"/>
          </a:xfrm>
          <a:prstGeom prst="rect">
            <a:avLst/>
          </a:prstGeom>
          <a:noFill/>
          <a:ln/>
        </p:spPr>
        <p:txBody>
          <a:bodyPr wrap="square" lIns="0" tIns="0" rIns="0" bIns="0" rtlCol="0" anchor="ctr"/>
          <a:lstStyle/>
          <a:p>
            <a:pPr marL="0" indent="0">
              <a:buNone/>
            </a:pPr>
            <a:r>
              <a:rPr lang="en-US" sz="2000" b="1" dirty="0">
                <a:solidFill>
                  <a:srgbClr val="1B1B2F"/>
                </a:solidFill>
                <a:latin typeface="Calibri" pitchFamily="34" charset="0"/>
                <a:ea typeface="Calibri" pitchFamily="34" charset="-122"/>
                <a:cs typeface="Calibri" pitchFamily="34" charset="-120"/>
              </a:rPr>
              <a:t>Significant Missing Data</a:t>
            </a:r>
            <a:endParaRPr lang="en-US" sz="2000" dirty="0"/>
          </a:p>
        </p:txBody>
      </p:sp>
      <p:sp>
        <p:nvSpPr>
          <p:cNvPr id="12" name="Text 10"/>
          <p:cNvSpPr/>
          <p:nvPr/>
        </p:nvSpPr>
        <p:spPr>
          <a:xfrm>
            <a:off x="6537960" y="2468880"/>
            <a:ext cx="4892040" cy="1051560"/>
          </a:xfrm>
          <a:prstGeom prst="rect">
            <a:avLst/>
          </a:prstGeom>
          <a:noFill/>
          <a:ln/>
        </p:spPr>
        <p:txBody>
          <a:bodyPr wrap="square" lIns="0" tIns="0" rIns="0" bIns="0" rtlCol="0" anchor="t"/>
          <a:lstStyle/>
          <a:p>
            <a:pPr marL="0" indent="0">
              <a:buNone/>
            </a:pPr>
            <a:r>
              <a:rPr lang="en-US" sz="1700" dirty="0">
                <a:solidFill>
                  <a:srgbClr val="5B5470"/>
                </a:solidFill>
                <a:latin typeface="Calibri" pitchFamily="34" charset="0"/>
                <a:ea typeface="Calibri" pitchFamily="34" charset="-122"/>
                <a:cs typeface="Calibri" pitchFamily="34" charset="-120"/>
              </a:rPr>
              <a:t>Several columns had 5–10% missing values; chose mode for categorical and median for numerical to avoid distorting the distribution.</a:t>
            </a:r>
            <a:endParaRPr lang="en-US" sz="1700" dirty="0"/>
          </a:p>
        </p:txBody>
      </p:sp>
      <p:sp>
        <p:nvSpPr>
          <p:cNvPr id="13" name="Shape 11"/>
          <p:cNvSpPr/>
          <p:nvPr/>
        </p:nvSpPr>
        <p:spPr>
          <a:xfrm>
            <a:off x="548640" y="3977640"/>
            <a:ext cx="5440680" cy="1920240"/>
          </a:xfrm>
          <a:prstGeom prst="roundRect">
            <a:avLst>
              <a:gd name="adj" fmla="val 3810"/>
            </a:avLst>
          </a:prstGeom>
          <a:solidFill>
            <a:srgbClr val="F7F5FC"/>
          </a:solidFill>
          <a:ln/>
          <a:effectLst>
            <a:outerShdw blurRad="101600" dist="38100" dir="2700000" algn="bl" rotWithShape="0">
              <a:srgbClr val="1B1B2F">
                <a:alpha val="12000"/>
              </a:srgbClr>
            </a:outerShdw>
          </a:effectLst>
        </p:spPr>
      </p:sp>
      <p:sp>
        <p:nvSpPr>
          <p:cNvPr id="14" name="Shape 12"/>
          <p:cNvSpPr/>
          <p:nvPr/>
        </p:nvSpPr>
        <p:spPr>
          <a:xfrm>
            <a:off x="777240" y="4206240"/>
            <a:ext cx="292608" cy="292608"/>
          </a:xfrm>
          <a:prstGeom prst="ellipse">
            <a:avLst/>
          </a:prstGeom>
          <a:solidFill>
            <a:srgbClr val="C97F1E"/>
          </a:solidFill>
          <a:ln/>
        </p:spPr>
      </p:sp>
      <p:sp>
        <p:nvSpPr>
          <p:cNvPr id="15" name="Text 13"/>
          <p:cNvSpPr/>
          <p:nvPr/>
        </p:nvSpPr>
        <p:spPr>
          <a:xfrm>
            <a:off x="1234440" y="4160520"/>
            <a:ext cx="4526280" cy="365760"/>
          </a:xfrm>
          <a:prstGeom prst="rect">
            <a:avLst/>
          </a:prstGeom>
          <a:noFill/>
          <a:ln/>
        </p:spPr>
        <p:txBody>
          <a:bodyPr wrap="square" lIns="0" tIns="0" rIns="0" bIns="0" rtlCol="0" anchor="ctr"/>
          <a:lstStyle/>
          <a:p>
            <a:pPr marL="0" indent="0">
              <a:buNone/>
            </a:pPr>
            <a:r>
              <a:rPr lang="en-US" sz="2000" b="1" dirty="0">
                <a:solidFill>
                  <a:srgbClr val="1B1B2F"/>
                </a:solidFill>
                <a:latin typeface="Calibri" pitchFamily="34" charset="0"/>
                <a:ea typeface="Calibri" pitchFamily="34" charset="-122"/>
                <a:cs typeface="Calibri" pitchFamily="34" charset="-120"/>
              </a:rPr>
              <a:t>Counter-Intuitive Results</a:t>
            </a:r>
            <a:endParaRPr lang="en-US" sz="2000" dirty="0"/>
          </a:p>
        </p:txBody>
      </p:sp>
      <p:sp>
        <p:nvSpPr>
          <p:cNvPr id="16" name="Text 14"/>
          <p:cNvSpPr/>
          <p:nvPr/>
        </p:nvSpPr>
        <p:spPr>
          <a:xfrm>
            <a:off x="822960" y="4663440"/>
            <a:ext cx="4892040" cy="1051560"/>
          </a:xfrm>
          <a:prstGeom prst="rect">
            <a:avLst/>
          </a:prstGeom>
          <a:noFill/>
          <a:ln/>
        </p:spPr>
        <p:txBody>
          <a:bodyPr wrap="square" lIns="0" tIns="0" rIns="0" bIns="0" rtlCol="0" anchor="t"/>
          <a:lstStyle/>
          <a:p>
            <a:pPr marL="0" indent="0">
              <a:buNone/>
            </a:pPr>
            <a:r>
              <a:rPr lang="en-US" sz="1700" dirty="0">
                <a:solidFill>
                  <a:srgbClr val="5B5470"/>
                </a:solidFill>
                <a:latin typeface="Calibri" pitchFamily="34" charset="0"/>
                <a:ea typeface="Calibri" pitchFamily="34" charset="-122"/>
                <a:cs typeface="Calibri" pitchFamily="34" charset="-120"/>
              </a:rPr>
              <a:t>Expected </a:t>
            </a:r>
            <a:r>
              <a:rPr lang="en-US" sz="1700" dirty="0" err="1">
                <a:solidFill>
                  <a:srgbClr val="5B5470"/>
                </a:solidFill>
                <a:latin typeface="Calibri" pitchFamily="34" charset="0"/>
                <a:ea typeface="Calibri" pitchFamily="34" charset="-122"/>
                <a:cs typeface="Calibri" pitchFamily="34" charset="-120"/>
              </a:rPr>
              <a:t>GenAI</a:t>
            </a:r>
            <a:r>
              <a:rPr lang="en-US" sz="1700" dirty="0">
                <a:solidFill>
                  <a:srgbClr val="5B5470"/>
                </a:solidFill>
                <a:latin typeface="Calibri" pitchFamily="34" charset="0"/>
                <a:ea typeface="Calibri" pitchFamily="34" charset="-122"/>
                <a:cs typeface="Calibri" pitchFamily="34" charset="-120"/>
              </a:rPr>
              <a:t> hours to correlate with GPA, but found ~0 correlation — learned to trust the data over assumptions.</a:t>
            </a:r>
            <a:endParaRPr lang="en-US" sz="1700" dirty="0"/>
          </a:p>
        </p:txBody>
      </p:sp>
      <p:sp>
        <p:nvSpPr>
          <p:cNvPr id="17" name="Shape 15"/>
          <p:cNvSpPr/>
          <p:nvPr/>
        </p:nvSpPr>
        <p:spPr>
          <a:xfrm>
            <a:off x="6263640" y="3977640"/>
            <a:ext cx="5440680" cy="1920240"/>
          </a:xfrm>
          <a:prstGeom prst="roundRect">
            <a:avLst>
              <a:gd name="adj" fmla="val 3810"/>
            </a:avLst>
          </a:prstGeom>
          <a:solidFill>
            <a:srgbClr val="F7F5FC"/>
          </a:solidFill>
          <a:ln/>
          <a:effectLst>
            <a:outerShdw blurRad="101600" dist="38100" dir="2700000" algn="bl" rotWithShape="0">
              <a:srgbClr val="1B1B2F">
                <a:alpha val="12000"/>
              </a:srgbClr>
            </a:outerShdw>
          </a:effectLst>
        </p:spPr>
      </p:sp>
      <p:sp>
        <p:nvSpPr>
          <p:cNvPr id="18" name="Shape 16"/>
          <p:cNvSpPr/>
          <p:nvPr/>
        </p:nvSpPr>
        <p:spPr>
          <a:xfrm>
            <a:off x="6492240" y="4206240"/>
            <a:ext cx="292608" cy="292608"/>
          </a:xfrm>
          <a:prstGeom prst="ellipse">
            <a:avLst/>
          </a:prstGeom>
          <a:solidFill>
            <a:srgbClr val="2E8B57"/>
          </a:solidFill>
          <a:ln/>
        </p:spPr>
      </p:sp>
      <p:sp>
        <p:nvSpPr>
          <p:cNvPr id="19" name="Text 17"/>
          <p:cNvSpPr/>
          <p:nvPr/>
        </p:nvSpPr>
        <p:spPr>
          <a:xfrm>
            <a:off x="6949440" y="4160520"/>
            <a:ext cx="4526280" cy="365760"/>
          </a:xfrm>
          <a:prstGeom prst="rect">
            <a:avLst/>
          </a:prstGeom>
          <a:noFill/>
          <a:ln/>
        </p:spPr>
        <p:txBody>
          <a:bodyPr wrap="square" lIns="0" tIns="0" rIns="0" bIns="0" rtlCol="0" anchor="ctr"/>
          <a:lstStyle/>
          <a:p>
            <a:pPr marL="0" indent="0">
              <a:buNone/>
            </a:pPr>
            <a:r>
              <a:rPr lang="en-US" sz="2000" b="1" dirty="0">
                <a:solidFill>
                  <a:srgbClr val="1B1B2F"/>
                </a:solidFill>
                <a:latin typeface="Calibri" pitchFamily="34" charset="0"/>
                <a:ea typeface="Calibri" pitchFamily="34" charset="-122"/>
                <a:cs typeface="Calibri" pitchFamily="34" charset="-120"/>
              </a:rPr>
              <a:t>Choosing the Right Plot</a:t>
            </a:r>
            <a:endParaRPr lang="en-US" sz="2000" dirty="0"/>
          </a:p>
        </p:txBody>
      </p:sp>
      <p:sp>
        <p:nvSpPr>
          <p:cNvPr id="20" name="Text 18"/>
          <p:cNvSpPr/>
          <p:nvPr/>
        </p:nvSpPr>
        <p:spPr>
          <a:xfrm>
            <a:off x="6537960" y="4663440"/>
            <a:ext cx="4892040" cy="1051560"/>
          </a:xfrm>
          <a:prstGeom prst="rect">
            <a:avLst/>
          </a:prstGeom>
          <a:noFill/>
          <a:ln/>
        </p:spPr>
        <p:txBody>
          <a:bodyPr wrap="square" lIns="0" tIns="0" rIns="0" bIns="0" rtlCol="0" anchor="t"/>
          <a:lstStyle/>
          <a:p>
            <a:pPr marL="0" indent="0">
              <a:buNone/>
            </a:pPr>
            <a:r>
              <a:rPr lang="en-US" sz="1700" dirty="0">
                <a:solidFill>
                  <a:srgbClr val="5B5470"/>
                </a:solidFill>
                <a:latin typeface="Calibri" pitchFamily="34" charset="0"/>
                <a:ea typeface="Calibri" pitchFamily="34" charset="-122"/>
                <a:cs typeface="Calibri" pitchFamily="34" charset="-120"/>
              </a:rPr>
              <a:t>Selecting the right chart type (</a:t>
            </a:r>
            <a:r>
              <a:rPr lang="en-US" sz="1700" dirty="0" err="1">
                <a:solidFill>
                  <a:srgbClr val="5B5470"/>
                </a:solidFill>
                <a:latin typeface="Calibri" pitchFamily="34" charset="0"/>
                <a:ea typeface="Calibri" pitchFamily="34" charset="-122"/>
                <a:cs typeface="Calibri" pitchFamily="34" charset="-120"/>
              </a:rPr>
              <a:t>histplot</a:t>
            </a:r>
            <a:r>
              <a:rPr lang="en-US" sz="1700" dirty="0">
                <a:solidFill>
                  <a:srgbClr val="5B5470"/>
                </a:solidFill>
                <a:latin typeface="Calibri" pitchFamily="34" charset="0"/>
                <a:ea typeface="Calibri" pitchFamily="34" charset="-122"/>
                <a:cs typeface="Calibri" pitchFamily="34" charset="-120"/>
              </a:rPr>
              <a:t> vs. scatterplot vs. </a:t>
            </a:r>
            <a:r>
              <a:rPr lang="en-US" sz="1700" dirty="0" err="1">
                <a:solidFill>
                  <a:srgbClr val="5B5470"/>
                </a:solidFill>
                <a:latin typeface="Calibri" pitchFamily="34" charset="0"/>
                <a:ea typeface="Calibri" pitchFamily="34" charset="-122"/>
                <a:cs typeface="Calibri" pitchFamily="34" charset="-120"/>
              </a:rPr>
              <a:t>barplot</a:t>
            </a:r>
            <a:r>
              <a:rPr lang="en-US" sz="1700" dirty="0">
                <a:solidFill>
                  <a:srgbClr val="5B5470"/>
                </a:solidFill>
                <a:latin typeface="Calibri" pitchFamily="34" charset="0"/>
                <a:ea typeface="Calibri" pitchFamily="34" charset="-122"/>
                <a:cs typeface="Calibri" pitchFamily="34" charset="-120"/>
              </a:rPr>
              <a:t> vs. </a:t>
            </a:r>
            <a:r>
              <a:rPr lang="en-US" sz="1700" dirty="0" err="1">
                <a:solidFill>
                  <a:srgbClr val="5B5470"/>
                </a:solidFill>
                <a:latin typeface="Calibri" pitchFamily="34" charset="0"/>
                <a:ea typeface="Calibri" pitchFamily="34" charset="-122"/>
                <a:cs typeface="Calibri" pitchFamily="34" charset="-120"/>
              </a:rPr>
              <a:t>heatmap</a:t>
            </a:r>
            <a:r>
              <a:rPr lang="en-US" sz="1700" dirty="0">
                <a:solidFill>
                  <a:srgbClr val="5B5470"/>
                </a:solidFill>
                <a:latin typeface="Calibri" pitchFamily="34" charset="0"/>
                <a:ea typeface="Calibri" pitchFamily="34" charset="-122"/>
                <a:cs typeface="Calibri" pitchFamily="34" charset="-120"/>
              </a:rPr>
              <a:t>) for each variable pair took practice and iteration.</a:t>
            </a:r>
            <a:endParaRPr lang="en-US" sz="1700" dirty="0"/>
          </a:p>
        </p:txBody>
      </p:sp>
      <p:sp>
        <p:nvSpPr>
          <p:cNvPr id="21" name="Text 19"/>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solidFill>
                  <a:srgbClr val="5B5470"/>
                </a:solidFill>
                <a:latin typeface="Calibri" pitchFamily="34" charset="0"/>
                <a:ea typeface="Calibri" pitchFamily="34" charset="-122"/>
                <a:cs typeface="Calibri" pitchFamily="34" charset="-120"/>
              </a:rPr>
              <a:t>Innomatics Research Labs  |  EDA Project</a:t>
            </a:r>
            <a:endParaRPr lang="en-US" sz="900"/>
          </a:p>
        </p:txBody>
      </p:sp>
      <p:sp>
        <p:nvSpPr>
          <p:cNvPr id="22" name="Text 20"/>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solidFill>
                  <a:srgbClr val="5B5470"/>
                </a:solidFill>
                <a:latin typeface="Calibri" pitchFamily="34" charset="0"/>
                <a:ea typeface="Calibri" pitchFamily="34" charset="-122"/>
                <a:cs typeface="Calibri" pitchFamily="34" charset="-120"/>
              </a:rPr>
              <a:t>23</a:t>
            </a:r>
            <a:endParaRPr lang="en-US" sz="90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731520" y="548640"/>
            <a:ext cx="5486400" cy="365760"/>
          </a:xfrm>
          <a:prstGeom prst="rect">
            <a:avLst/>
          </a:prstGeom>
          <a:noFill/>
          <a:ln/>
        </p:spPr>
        <p:txBody>
          <a:bodyPr wrap="square" lIns="0" tIns="0" rIns="0" bIns="0" rtlCol="0" anchor="ctr"/>
          <a:lstStyle/>
          <a:p>
            <a:pPr marL="0" indent="0">
              <a:buNone/>
            </a:pPr>
            <a:r>
              <a:rPr lang="en-US" sz="3000" b="1" kern="0" spc="200" dirty="0" smtClean="0">
                <a:solidFill>
                  <a:schemeClr val="accent2"/>
                </a:solidFill>
                <a:latin typeface="Calibri" pitchFamily="34" charset="0"/>
                <a:ea typeface="Calibri" pitchFamily="34" charset="-122"/>
                <a:cs typeface="Calibri" pitchFamily="34" charset="-120"/>
              </a:rPr>
              <a:t>CONCLUSION</a:t>
            </a:r>
            <a:endParaRPr lang="en-US" sz="3000" dirty="0">
              <a:solidFill>
                <a:schemeClr val="accent2"/>
              </a:solidFill>
            </a:endParaRPr>
          </a:p>
        </p:txBody>
      </p:sp>
      <p:sp>
        <p:nvSpPr>
          <p:cNvPr id="5" name="Text 3"/>
          <p:cNvSpPr/>
          <p:nvPr/>
        </p:nvSpPr>
        <p:spPr>
          <a:xfrm>
            <a:off x="731520" y="1005840"/>
            <a:ext cx="8229600" cy="640080"/>
          </a:xfrm>
          <a:prstGeom prst="rect">
            <a:avLst/>
          </a:prstGeom>
          <a:noFill/>
          <a:ln/>
        </p:spPr>
        <p:txBody>
          <a:bodyPr wrap="square" lIns="0" tIns="0" rIns="0" bIns="0" rtlCol="0" anchor="ctr"/>
          <a:lstStyle/>
          <a:p>
            <a:pPr marL="0" indent="0">
              <a:buNone/>
            </a:pPr>
            <a:r>
              <a:rPr lang="en-US" sz="2800" b="1" dirty="0">
                <a:latin typeface="Cambria" pitchFamily="34" charset="0"/>
                <a:ea typeface="Cambria" pitchFamily="34" charset="-122"/>
                <a:cs typeface="Cambria" pitchFamily="34" charset="-120"/>
              </a:rPr>
              <a:t>Key Findings, Overall</a:t>
            </a:r>
            <a:endParaRPr lang="en-US" sz="2800" dirty="0"/>
          </a:p>
        </p:txBody>
      </p:sp>
      <p:sp>
        <p:nvSpPr>
          <p:cNvPr id="6" name="Text 4"/>
          <p:cNvSpPr/>
          <p:nvPr/>
        </p:nvSpPr>
        <p:spPr>
          <a:xfrm>
            <a:off x="731520" y="1920240"/>
            <a:ext cx="10515600" cy="3263900"/>
          </a:xfrm>
          <a:prstGeom prst="rect">
            <a:avLst/>
          </a:prstGeom>
          <a:noFill/>
          <a:ln/>
        </p:spPr>
        <p:txBody>
          <a:bodyPr wrap="square" lIns="0" tIns="0" rIns="0" bIns="0" rtlCol="0" anchor="t"/>
          <a:lstStyle/>
          <a:p>
            <a:pPr marL="342900" indent="-342900">
              <a:spcAft>
                <a:spcPts val="1400"/>
              </a:spcAft>
              <a:buSzPct val="100000"/>
              <a:buFont typeface="Arial" panose="020B0604020202020204" pitchFamily="34" charset="0"/>
              <a:buChar char="•"/>
            </a:pPr>
            <a:r>
              <a:rPr lang="en-US" sz="2000" dirty="0" err="1"/>
              <a:t>GenAI</a:t>
            </a:r>
            <a:r>
              <a:rPr lang="en-US" sz="2000" dirty="0"/>
              <a:t> usage has </a:t>
            </a:r>
            <a:r>
              <a:rPr lang="en-US" sz="2000" b="1" dirty="0"/>
              <a:t>very little impact on students' GPA</a:t>
            </a:r>
            <a:r>
              <a:rPr lang="en-US" sz="2000" dirty="0"/>
              <a:t>. Students who use AI more do not necessarily get better or worse grades</a:t>
            </a:r>
            <a:r>
              <a:rPr lang="en-US" sz="2000" dirty="0" smtClean="0"/>
              <a:t>.</a:t>
            </a:r>
          </a:p>
          <a:p>
            <a:pPr marL="342900" indent="-342900">
              <a:spcAft>
                <a:spcPts val="1400"/>
              </a:spcAft>
              <a:buSzPct val="100000"/>
              <a:buFont typeface="Arial" panose="020B0604020202020204" pitchFamily="34" charset="0"/>
              <a:buChar char="•"/>
            </a:pPr>
            <a:r>
              <a:rPr lang="en-US" sz="2000" dirty="0"/>
              <a:t>A large number of students experience </a:t>
            </a:r>
            <a:r>
              <a:rPr lang="en-US" sz="2000" b="1" dirty="0"/>
              <a:t>medium burnout levels</a:t>
            </a:r>
            <a:r>
              <a:rPr lang="en-US" sz="2000" dirty="0"/>
              <a:t> and </a:t>
            </a:r>
            <a:r>
              <a:rPr lang="en-US" sz="2000" b="1" dirty="0"/>
              <a:t>high exam anxiety</a:t>
            </a:r>
            <a:r>
              <a:rPr lang="en-US" sz="2000" dirty="0"/>
              <a:t>, regardless of their field of study</a:t>
            </a:r>
            <a:r>
              <a:rPr lang="en-US" sz="2000" dirty="0" smtClean="0"/>
              <a:t>.</a:t>
            </a:r>
          </a:p>
          <a:p>
            <a:pPr marL="342900" indent="-342900">
              <a:spcAft>
                <a:spcPts val="1400"/>
              </a:spcAft>
              <a:buSzPct val="100000"/>
              <a:buFont typeface="Arial" panose="020B0604020202020204" pitchFamily="34" charset="0"/>
              <a:buChar char="•"/>
            </a:pPr>
            <a:r>
              <a:rPr lang="en-US" sz="2000" dirty="0"/>
              <a:t>Students with </a:t>
            </a:r>
            <a:r>
              <a:rPr lang="en-US" sz="2000" b="1" dirty="0"/>
              <a:t>paid AI subscriptions</a:t>
            </a:r>
            <a:r>
              <a:rPr lang="en-US" sz="2000" dirty="0"/>
              <a:t> tend to use AI tools more frequently than students using free versions</a:t>
            </a:r>
            <a:r>
              <a:rPr lang="en-US" sz="2000" dirty="0" smtClean="0"/>
              <a:t>.</a:t>
            </a:r>
          </a:p>
          <a:p>
            <a:pPr marL="342900" indent="-342900">
              <a:spcAft>
                <a:spcPts val="1400"/>
              </a:spcAft>
              <a:buSzPct val="100000"/>
              <a:buFont typeface="Arial" panose="020B0604020202020204" pitchFamily="34" charset="0"/>
              <a:buChar char="•"/>
            </a:pPr>
            <a:r>
              <a:rPr lang="en-US" sz="2000" dirty="0"/>
              <a:t>Academic performance remains </a:t>
            </a:r>
            <a:r>
              <a:rPr lang="en-US" sz="2000" b="1" dirty="0"/>
              <a:t>similar across different majors</a:t>
            </a:r>
            <a:r>
              <a:rPr lang="en-US" sz="2000" dirty="0"/>
              <a:t>, suggesting that factors such as study habits and consistency may influence grades more than AI usage alone.</a:t>
            </a:r>
            <a:endParaRPr lang="en-US" sz="1900" dirty="0"/>
          </a:p>
        </p:txBody>
      </p:sp>
      <p:sp>
        <p:nvSpPr>
          <p:cNvPr id="7" name="Text 5"/>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a:latin typeface="Calibri" pitchFamily="34" charset="0"/>
                <a:ea typeface="Calibri" pitchFamily="34" charset="-122"/>
                <a:cs typeface="Calibri" pitchFamily="34" charset="-120"/>
              </a:rPr>
              <a:t>Innomatics Research Labs  |  EDA Project</a:t>
            </a:r>
            <a:endParaRPr lang="en-US" sz="900"/>
          </a:p>
        </p:txBody>
      </p:sp>
      <p:sp>
        <p:nvSpPr>
          <p:cNvPr id="8" name="Text 6"/>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smtClean="0">
                <a:latin typeface="Calibri" pitchFamily="34" charset="0"/>
                <a:ea typeface="Calibri" pitchFamily="34" charset="-122"/>
                <a:cs typeface="Calibri" pitchFamily="34" charset="-120"/>
              </a:rPr>
              <a:t>22</a:t>
            </a:r>
            <a:endParaRPr lang="en-US" sz="90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8">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914400" y="2743200"/>
            <a:ext cx="10332720" cy="1005840"/>
          </a:xfrm>
          <a:prstGeom prst="rect">
            <a:avLst/>
          </a:prstGeom>
          <a:noFill/>
          <a:ln/>
        </p:spPr>
        <p:txBody>
          <a:bodyPr wrap="square" lIns="0" tIns="0" rIns="0" bIns="0" rtlCol="0" anchor="ctr"/>
          <a:lstStyle/>
          <a:p>
            <a:pPr marL="0" indent="0" algn="ctr">
              <a:buNone/>
            </a:pPr>
            <a:r>
              <a:rPr lang="en-US" sz="4600" b="1">
                <a:solidFill>
                  <a:srgbClr val="7030A0"/>
                </a:solidFill>
                <a:latin typeface="Cambria" pitchFamily="34" charset="0"/>
                <a:ea typeface="Cambria" pitchFamily="34" charset="-122"/>
                <a:cs typeface="Cambria" pitchFamily="34" charset="-120"/>
              </a:rPr>
              <a:t>THANK YOU</a:t>
            </a:r>
            <a:endParaRPr lang="en-US" sz="4600">
              <a:solidFill>
                <a:srgbClr val="7030A0"/>
              </a:solidFill>
            </a:endParaRPr>
          </a:p>
        </p:txBody>
      </p:sp>
      <p:sp>
        <p:nvSpPr>
          <p:cNvPr id="5" name="Shape 3"/>
          <p:cNvSpPr/>
          <p:nvPr/>
        </p:nvSpPr>
        <p:spPr>
          <a:xfrm>
            <a:off x="5394960" y="3794760"/>
            <a:ext cx="1371600" cy="0"/>
          </a:xfrm>
          <a:prstGeom prst="line">
            <a:avLst/>
          </a:prstGeom>
          <a:noFill/>
          <a:ln w="38100">
            <a:solidFill>
              <a:srgbClr val="F2A33C"/>
            </a:solidFill>
            <a:prstDash val="solid"/>
          </a:ln>
        </p:spPr>
      </p:sp>
      <p:sp>
        <p:nvSpPr>
          <p:cNvPr id="6" name="Text 4"/>
          <p:cNvSpPr/>
          <p:nvPr/>
        </p:nvSpPr>
        <p:spPr>
          <a:xfrm>
            <a:off x="914400" y="3977640"/>
            <a:ext cx="10332720" cy="457200"/>
          </a:xfrm>
          <a:prstGeom prst="rect">
            <a:avLst/>
          </a:prstGeom>
          <a:noFill/>
          <a:ln/>
        </p:spPr>
        <p:txBody>
          <a:bodyPr wrap="square" lIns="0" tIns="0" rIns="0" bIns="0" rtlCol="0" anchor="ctr"/>
          <a:lstStyle/>
          <a:p>
            <a:pPr marL="0" indent="0" algn="ctr">
              <a:buNone/>
            </a:pPr>
            <a:r>
              <a:rPr lang="en-US" sz="1400">
                <a:solidFill>
                  <a:srgbClr val="7030A0"/>
                </a:solidFill>
                <a:latin typeface="Calibri" pitchFamily="34" charset="0"/>
                <a:ea typeface="Calibri" pitchFamily="34" charset="-122"/>
                <a:cs typeface="Calibri" pitchFamily="34" charset="-120"/>
              </a:rPr>
              <a:t>Innomatics Research Labs  ·  Innovation. Automation. Analytics.</a:t>
            </a:r>
            <a:endParaRPr lang="en-US" sz="1400">
              <a:solidFill>
                <a:srgbClr val="7030A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1268</TotalTime>
  <Words>1757</Words>
  <Application>Microsoft Office PowerPoint</Application>
  <PresentationFormat>Widescreen</PresentationFormat>
  <Paragraphs>254</Paragraphs>
  <Slides>24</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 Unicode MS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Generative AI Usage on Student Academic Performance</dc:title>
  <dc:subject>PptxGenJS Presentation</dc:subject>
  <dc:creator>Innomatics Research Labs</dc:creator>
  <cp:lastModifiedBy>Microsoft account</cp:lastModifiedBy>
  <cp:revision>51</cp:revision>
  <dcterms:created xsi:type="dcterms:W3CDTF">2026-06-16T07:04:51Z</dcterms:created>
  <dcterms:modified xsi:type="dcterms:W3CDTF">2026-07-20T11:24:14Z</dcterms:modified>
</cp:coreProperties>
</file>